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Açılış: Bu artık bir karar sunumu değil, UYGULANMIŞ bir mimarinin teknik sunumu. Üç bölüm var: problem ve kavram (2-5), uygulanan mekanizma parça parça (6-9), operasyon araçları ve gerçek sunucuda koşulan pilotun sonuçları (10-13). Slaytlarda şekiller var; detayları ben anlatacağım — sorularınızı ilgili şemanın üzerinde tartışabiliriz.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Zemin: 3. parti jar'lar hiçbir WAR'da değil, sunucudaki tek com.zeus module'ünde (~43 MB, tek kopya — şemada silindir). WAR'lar 40 KB (dosya ikonları). Sürümün tek kaynağı zeus-dependencies BOM; module her zaman install script'iyle (soldaki terminal) BOM'dan üretilir, elle düzenlenmez. Alttaki küçük nota dikkat: bağlama global-modules ile değil, her WAR'ın kendi descriptor'ıyla — bu detay slot mekanizmasının kapısını açan şey.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İki bağımsız kuplaj. Solda lockstep: tek module = tek Spring sürümü; üç app'ten biri regresyonda takılınca CVE kimseye çıkamıyor, çünkü release birimi 'module + tüm app'ler'. Sağda restart: module güncellenince yıldırım — tam sunucu restart'ı; sunucu kasasındaki üç app da kesintide (kırmızı LED'ler). Her CVE bakım penceresi ister. İyi bir çözümün İKİSİNİ birden çözmesi gerekiyordu — slot'ların testi bu.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Kavram: WildFly'da aynı module adının sürüm başına dizini olabilir — slot (şemada sunucu içindeki klasörler). Kritik iki özellik: (1) yeni slot dizini eklemek restart GEREKTIRMEZ, çünkü module'ler ilk referansta tembel yüklenir; cache sorunu yalnız yüklü bir module DEĞİŞİNCE olur — slot'larımız immutable (kilit ikonu) olduğu için o duruma hiç düşmeyiz. (2) Her app (alttaki WAR dosyaları) descriptor'ındaki slot ile kendi sürümünü seçer: app-A main'de, app-B yamalı 1.1.1'de, aynı sunucuda yan yana. Lockstep de restart da burada çözülüyor; kalan her şey bunu güvenli ve otomatik yapmak.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Kısa bir 'neden bu değil': ilk öneri stage/normal iki isimli module idi (turuncu silindirler — içerikleri değişken!). Üç ölümcül kusur: isimler sabit ama içerik değişken — app bir sürüme değil şeride pinlenir, izlenebilirlik kaybolur. Promotion tanımsız — stage'i normal'e kopyalarsan lockstep sadece gecikmiş olur; app'ler tek tek geçerse ikinci CVE'de şerit kalmaz. Ve en önemlisi: var olan module'ü güncellemek yine restart ister. Slot'lar aynı fikrin — seçimi app'e ver — sürümlü ve immutable hali.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Uygulanan ilk parça: descriptor'ı developer yazmaz. Haklı endişe şuydu: 'bu dosyayı developer yanlış yazarsa app açılmaz — global-modules bu yüzden vardı.' Çözüm: tek doğru kopya zeus-war-defaults artifact'ında (soldaki şablon dosyası); zeus-parent'ın profili her WAR build'inde (dişli) şablonu açar, slot'u doldurur, WEB-INF'e koyar; WAR sunucuya gider. Soldaki kutu: aktivasyon src/main/webapp varlığına bakar (packaging=war aktivasyonu Maven 4 özelliği çıktı, 3.9 reddediyor — file-exists kullandık; boş dizin .gitkeep ile durur, yoksa guard yakalar). Sağdaki kutu önemli: app'te unutulmuş elle bir kopya olsa bile üretilen dosya kazanır — webResources önce işlenir; bunu fiilen test ettik.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İkinci parça: slot seçimi otomatik. Zincir soldan sağa: app pom'unda SADECE parent sürümü değişir; Maven project.parent.version'ı çözer; zeus-parent'taki zeus.module.slot property'si descriptor'a yazılır; WildFly doğru slot klasörüne bağlar. Sağdaki kutu ince ayar: her zeus release'inde 3. parti içerik değişmez — platform o release'te slot değerini SABİTLER (örn. 1.1.2 yalnız zeus kodu değiştirdiyse slot 1.1.1 kalır); gereksiz 43 MB slot kopyaları oluşmaz. App tarafının tüm dünyası: parent bump.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Üçüncü parça: kurulum. Soldaki terminal gerçek çıktı: --slot ile kurulum, restart yok; aynı slot'a ikinci kurulum exit 3 ile REDDEDİLİR — immutability script tarafından zorlanır (bilinçli istisna FORCE=1). Sağda dizin yapısı ve module.xml. Alttaki turuncu kutu pilotta yaşadığımız gerçek bulgu: module.xml şema 1.6+'da 'slot' attribute'u kaldırılmış — slot="..." yazınca WildFly XmlPullParserException veriyor. Doğrusu slot'u name içine iki noktayla yazmak: name="com.zeus:1.1.1". Descriptor tarafında ise slot attribute'u VAR ve çalışıyor — iki şema farklı.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Güvenlik ağları: deploy hattında üç kapı (chevron'lar), hepsi verify-module-coverage.sh'ta, her app'in deploy.sh'ı otomatik çağırır. G1: WAR'da üretilmiş descriptor var mı? (yoksa tipik neden webapp dizininin silinmesi — mesaj .gitkeep çözümünü söyler). G2: app'in hedeflediği slot sunucuda kurulu mu? (değilse kurulum komutu yazılır — restart'sız). G3: app'in runtime bağımlılık kapanışı hedef slot'un içeriğiyle örtüşüyor mu? Üçü de 'kriptik açılış hatası' sınıfı sorunları deploy'dan ÖNCE, çözüm cümlesiyle yakalar. Negatif testlerini tek tek koştuk.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Operasyonun bütünü: CVE geldiğinde BOM override + release, parent slot'u sabitler (adım 1); staging gate'i SLOT akışıyla koşulur (adım 2); prod'a slot kurulur — sıfır restart, main'deki app'ler hiçbir şey hissetmez (adım 3); app'ler kendi hızında parent bump + redeploy ile geçer, saniyeler sürer (adım 4); sorun çıkaran app parent'ı geri alır — rollback app bazında (adım 5); envanter herkes geçti deyince eski slot silinir, CVE kapanır (adım 6). Eski dünyayla kıyas: bakım penceresi ve 'en yavaş app herkesi bekletir' ikisi de yok.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Staging gate'in iki modu (chevron şeritleri). Üst şerit mevcut main akışı — değişmedi: yedekle, üret, RESTART (yıldırımlı kırmızı), deploy, smoke, promote. Alt şerit yeni SLOT akışı: slot immutable kurulur (kilit), sunucu ayaktaysa DOKUNULMAZ — kesintisiz doğrulama. Turuncu 'slot-hedef ✓' kritik: her app'in WAR'ının gerçekten doğrulanan slot'u gösterdiği kontrol edilir; eski parent'la build edilmiş bir app eski slot'la yeşil görünüp gate'i YANILTAMAZ — pilotta bunu bilerek tetikledik ve gate doğru şekilde kırmızı düştü. Promote artifact'ı slot dizininden üretilir; prod talimatı restart'sızdır.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Envanter, 'tek yama herkesi kapsar' özelliğinden vazgeçmenin telafisi: CVE kapanışı artık app'lerin geçişine bağlı olduğundan 'kim nerede' sorusunun aracı şart. Script deploy edilmiş WAR'ların descriptor'ından okur (soldaki terminal gerçek çıktı biçimi); üç denetim: kurulu olmayan slot'a işaret eden app (exit 2 — en tehlikelisi), 2'den fazla slot (exit 1 — politika), kullanılmayan slot (silinebilir aday; silme restart penceresinde çünkü yüklü module'ün jar'ları tembel açılır). Exit kodları CI'da kapı olarak kullanılabilir.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Bunların hepsi kağıt üzerinde değil — gerçek WildFly'da uçtan uca prova ettik. Sırayla: (1) bilerek yanlış durumla başladık: parent main üretirken SLOT akışı — gate slot uyuşmazlığını yakaladı, tasarlanan koruma çalışıyor. (2) Gerçek bir bulgu çıktı: module.xml şeması slot attribute'unu reddetti; düzeltme name='com.zeus:slot' — yükleme hatası cache'lenmedi, düzeltme restart'sız devreye girdi. (3) Parent sabitlenince GATE PASSED: app main'den rc1'e sunucu HİÇ restart edilmeden geçti, smoke 9/9. (4) Rollback provası: parent geri, app main'e döndü. (5) Envanter rc1'i aday gösterdi, silindi, ortam temiz. Yani akışın hem mutlu yolu hem hata yolları sahada doğrulandı.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Kapanış: üç kazanım — CVE rollout'unda sıfır restart (bakım penceresi derdi bitti), developer'ın yazdığı sıfır deployment dosyası (bozamazsın garantisi yapısal), ve saniyeler mertebesinde app bazında rollback. Karşılığında bir disiplin borcumuz var, turuncu kutu: slot'lar geçiş mekanizmasıdır — aynı anda en fazla 2, hedef durum yine tek slot; kapanış envanterle izlenir. Sıradaki gerçek adım: ilk canlı CVE'de bu akışı kullanmak; global-modules kullanan ortam varsa önce oradaki tek seferlik descriptor+main geçişi yapılmalı.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4577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com.zeus Versiyonlu Slot Mimarisi</a:t>
            </a:r>
          </a:p>
          <a:p>
            <a:pPr>
              <a:spcBef>
                <a:spcPts val="1400"/>
              </a:spcBef>
            </a:pPr>
            <a:r>
              <a:rPr sz="1900">
                <a:solidFill>
                  <a:srgbClr val="C9D6EA"/>
                </a:solidFill>
              </a:rPr>
              <a:t>CVE yamalarında restart'sız, kademeli sürüm geçişi — tasarım, uygulama ve pilot sonuçları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9FB4D4"/>
                </a:solidFill>
              </a:rPr>
              <a:t>Zeus Framework Platform  ·  Temmuz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5EAA"/>
                </a:solidFill>
              </a:rPr>
              <a:t>BAĞLAM</a:t>
            </a:r>
          </a:p>
          <a:p>
            <a:r>
              <a:rPr sz="2900" b="1">
                <a:solidFill>
                  <a:srgbClr val="1F3864"/>
                </a:solidFill>
              </a:rPr>
              <a:t>Mevcut Mimari: İnce WAR + Tek Paylaşımlı Module</a:t>
            </a:r>
          </a:p>
        </p:txBody>
      </p:sp>
      <p:sp>
        <p:nvSpPr>
          <p:cNvPr id="4" name="Can 3"/>
          <p:cNvSpPr/>
          <p:nvPr/>
        </p:nvSpPr>
        <p:spPr>
          <a:xfrm>
            <a:off x="365760" y="1737360"/>
            <a:ext cx="2286000" cy="1371600"/>
          </a:xfrm>
          <a:prstGeom prst="can">
            <a:avLst/>
          </a:prstGeom>
          <a:solidFill>
            <a:srgbClr val="EEF2F8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1F3864"/>
                </a:solidFill>
              </a:rPr>
              <a:t>zeus-dependencies</a:t>
            </a:r>
          </a:p>
          <a:p>
            <a:pPr algn="ctr"/>
            <a:r>
              <a:rPr sz="1050">
                <a:solidFill>
                  <a:srgbClr val="262626"/>
                </a:solidFill>
              </a:rPr>
              <a:t>BOM — tek sürüm kaynağı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931920"/>
            <a:ext cx="2651760" cy="1737360"/>
          </a:xfrm>
          <a:prstGeom prst="roundRect">
            <a:avLst/>
          </a:prstGeom>
          <a:solidFill>
            <a:srgbClr val="282C34"/>
          </a:solidFill>
          <a:ln w="15875">
            <a:solidFill>
              <a:srgbClr val="1A1D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10896" y="3968496"/>
            <a:ext cx="2578608" cy="310896"/>
          </a:xfrm>
          <a:prstGeom prst="roundRect">
            <a:avLst/>
          </a:prstGeom>
          <a:solidFill>
            <a:srgbClr val="3A3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20624" y="4059936"/>
            <a:ext cx="118872" cy="118872"/>
          </a:xfrm>
          <a:prstGeom prst="ellipse">
            <a:avLst/>
          </a:prstGeom>
          <a:solidFill>
            <a:srgbClr val="E0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21792" y="4059936"/>
            <a:ext cx="118872" cy="118872"/>
          </a:xfrm>
          <a:prstGeom prst="ellipse">
            <a:avLst/>
          </a:prstGeom>
          <a:solidFill>
            <a:srgbClr val="E0B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4059936"/>
            <a:ext cx="118872" cy="118872"/>
          </a:xfrm>
          <a:prstGeom prst="ellipse">
            <a:avLst/>
          </a:prstGeom>
          <a:solidFill>
            <a:srgbClr val="5FC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977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AA0AA"/>
                </a:solidFill>
                <a:latin typeface="Consolas"/>
              </a:rPr>
              <a:t>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4389120"/>
            <a:ext cx="2322576" cy="1170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D8DCE2"/>
                </a:solidFill>
                <a:latin typeface="Consolas"/>
              </a:rPr>
              <a:t>$ ./install-zeus-</a:t>
            </a:r>
          </a:p>
          <a:p>
            <a:r>
              <a:rPr sz="1050">
                <a:solidFill>
                  <a:srgbClr val="D8DCE2"/>
                </a:solidFill>
                <a:latin typeface="Consolas"/>
              </a:rPr>
              <a:t>    module.sh</a:t>
            </a:r>
          </a:p>
          <a:p>
            <a:r>
              <a:rPr sz="1050">
                <a:solidFill>
                  <a:srgbClr val="8ED08E"/>
                </a:solidFill>
                <a:latin typeface="Consolas"/>
              </a:rPr>
              <a:t>&gt;&gt; BOM'dan üretildi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08760" y="3108960"/>
            <a:ext cx="0" cy="822960"/>
          </a:xfrm>
          <a:prstGeom prst="line">
            <a:avLst/>
          </a:prstGeom>
          <a:ln w="22225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291840" y="1463040"/>
            <a:ext cx="8503920" cy="50292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46704" y="1517904"/>
            <a:ext cx="8394192" cy="420624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18288"/>
          <a:lstStyle/>
          <a:p>
            <a:pPr algn="l"/>
            <a:r>
              <a:rPr sz="1300" b="1">
                <a:solidFill>
                  <a:srgbClr val="FFFFFF"/>
                </a:solidFill>
              </a:rPr>
              <a:t>🖥  WildFly (prod)  —  standalone</a:t>
            </a:r>
          </a:p>
        </p:txBody>
      </p:sp>
      <p:sp>
        <p:nvSpPr>
          <p:cNvPr id="15" name="Oval 14"/>
          <p:cNvSpPr/>
          <p:nvPr/>
        </p:nvSpPr>
        <p:spPr>
          <a:xfrm>
            <a:off x="11109960" y="1655064"/>
            <a:ext cx="128016" cy="128016"/>
          </a:xfrm>
          <a:prstGeom prst="ellipse">
            <a:avLst/>
          </a:prstGeom>
          <a:solidFill>
            <a:srgbClr val="4CC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311128" y="1655064"/>
            <a:ext cx="128016" cy="128016"/>
          </a:xfrm>
          <a:prstGeom prst="ellipse">
            <a:avLst/>
          </a:prstGeom>
          <a:solidFill>
            <a:srgbClr val="4CC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512296" y="1655064"/>
            <a:ext cx="128016" cy="128016"/>
          </a:xfrm>
          <a:prstGeom prst="ellipse">
            <a:avLst/>
          </a:prstGeom>
          <a:solidFill>
            <a:srgbClr val="B07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an 17"/>
          <p:cNvSpPr/>
          <p:nvPr/>
        </p:nvSpPr>
        <p:spPr>
          <a:xfrm>
            <a:off x="3840480" y="2240280"/>
            <a:ext cx="7406640" cy="1371600"/>
          </a:xfrm>
          <a:prstGeom prst="can">
            <a:avLst/>
          </a:prstGeom>
          <a:solidFill>
            <a:srgbClr val="EEF2F8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F3864"/>
                </a:solidFill>
              </a:rPr>
              <a:t>com.zeus module (main)  —  ~43 MB</a:t>
            </a:r>
          </a:p>
          <a:p>
            <a:pPr algn="ctr"/>
            <a:r>
              <a:rPr sz="1100">
                <a:solidFill>
                  <a:srgbClr val="262626"/>
                </a:solidFill>
              </a:rPr>
              <a:t>Spring · Hibernate · Jackson · ...  (55 jar, sunucuda TEK kopya)</a:t>
            </a:r>
          </a:p>
        </p:txBody>
      </p:sp>
      <p:sp>
        <p:nvSpPr>
          <p:cNvPr id="19" name="Folded Corner 18"/>
          <p:cNvSpPr/>
          <p:nvPr/>
        </p:nvSpPr>
        <p:spPr>
          <a:xfrm>
            <a:off x="3840480" y="4709160"/>
            <a:ext cx="2240280" cy="1097280"/>
          </a:xfrm>
          <a:prstGeom prst="foldedCorner">
            <a:avLst/>
          </a:prstGeom>
          <a:solidFill>
            <a:srgbClr val="FFFFFF"/>
          </a:solidFill>
          <a:ln w="15875">
            <a:solidFill>
              <a:srgbClr val="2E5E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>
                <a:solidFill>
                  <a:srgbClr val="2E5EAA"/>
                </a:solidFill>
              </a:rPr>
              <a:t>app-1.war  ≈ 40 KB</a:t>
            </a:r>
          </a:p>
          <a:p>
            <a:pPr algn="ctr"/>
            <a:r>
              <a:rPr sz="1050">
                <a:solidFill>
                  <a:srgbClr val="262626"/>
                </a:solidFill>
              </a:rPr>
              <a:t>zeus-* + app sınıfları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4956048" y="3639312"/>
            <a:ext cx="0" cy="1069848"/>
          </a:xfrm>
          <a:prstGeom prst="line">
            <a:avLst/>
          </a:prstGeom>
          <a:ln w="22225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Folded Corner 20"/>
          <p:cNvSpPr/>
          <p:nvPr/>
        </p:nvSpPr>
        <p:spPr>
          <a:xfrm>
            <a:off x="6400800" y="4709160"/>
            <a:ext cx="2240280" cy="1097280"/>
          </a:xfrm>
          <a:prstGeom prst="foldedCorner">
            <a:avLst/>
          </a:prstGeom>
          <a:solidFill>
            <a:srgbClr val="FFFFFF"/>
          </a:solidFill>
          <a:ln w="15875">
            <a:solidFill>
              <a:srgbClr val="2E5E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>
                <a:solidFill>
                  <a:srgbClr val="2E5EAA"/>
                </a:solidFill>
              </a:rPr>
              <a:t>app-2.war  ≈ 40 KB</a:t>
            </a:r>
          </a:p>
          <a:p>
            <a:pPr algn="ctr"/>
            <a:r>
              <a:rPr sz="1050">
                <a:solidFill>
                  <a:srgbClr val="262626"/>
                </a:solidFill>
              </a:rPr>
              <a:t>zeus-* + app sınıfları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7516368" y="3639312"/>
            <a:ext cx="0" cy="1069848"/>
          </a:xfrm>
          <a:prstGeom prst="line">
            <a:avLst/>
          </a:prstGeom>
          <a:ln w="22225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olded Corner 22"/>
          <p:cNvSpPr/>
          <p:nvPr/>
        </p:nvSpPr>
        <p:spPr>
          <a:xfrm>
            <a:off x="9006840" y="4709160"/>
            <a:ext cx="2240280" cy="1097280"/>
          </a:xfrm>
          <a:prstGeom prst="foldedCorner">
            <a:avLst/>
          </a:prstGeom>
          <a:solidFill>
            <a:srgbClr val="FFFFFF"/>
          </a:solidFill>
          <a:ln w="15875">
            <a:solidFill>
              <a:srgbClr val="2E5E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>
                <a:solidFill>
                  <a:srgbClr val="2E5EAA"/>
                </a:solidFill>
              </a:rPr>
              <a:t>app-N.war  ≈ 40 KB</a:t>
            </a:r>
          </a:p>
          <a:p>
            <a:pPr algn="ctr"/>
            <a:r>
              <a:rPr sz="1050">
                <a:solidFill>
                  <a:srgbClr val="262626"/>
                </a:solidFill>
              </a:rPr>
              <a:t>zeus-* + app sınıfları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10122408" y="3639312"/>
            <a:ext cx="0" cy="1069848"/>
          </a:xfrm>
          <a:prstGeom prst="line">
            <a:avLst/>
          </a:prstGeom>
          <a:ln w="22225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840480" y="59436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</a:rPr>
              <a:t>bağlama: WAR içindeki jboss-deployment-structure.xml → com.zeus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2926080" y="3474720"/>
            <a:ext cx="896111" cy="1280160"/>
          </a:xfrm>
          <a:prstGeom prst="line">
            <a:avLst/>
          </a:prstGeom>
          <a:ln w="22225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5A5A5A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5EAA"/>
                </a:solidFill>
              </a:rPr>
              <a:t>PROBLEM</a:t>
            </a:r>
          </a:p>
          <a:p>
            <a:r>
              <a:rPr sz="2900" b="1">
                <a:solidFill>
                  <a:srgbClr val="1F3864"/>
                </a:solidFill>
              </a:rPr>
              <a:t>Problem: Lockstep + Restart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864"/>
                </a:solidFill>
              </a:rPr>
              <a:t>1 — Lockstep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57400"/>
            <a:ext cx="4206240" cy="566928"/>
          </a:xfrm>
          <a:prstGeom prst="roundRect">
            <a:avLst/>
          </a:prstGeom>
          <a:solidFill>
            <a:srgbClr val="EAF3EA"/>
          </a:solidFill>
          <a:ln w="15875">
            <a:solidFill>
              <a:srgbClr val="3E7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3E7B3E"/>
                </a:solidFill>
              </a:rPr>
              <a:t>app-1  ✓ hazır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61488"/>
            <a:ext cx="4206240" cy="566928"/>
          </a:xfrm>
          <a:prstGeom prst="roundRect">
            <a:avLst/>
          </a:prstGeom>
          <a:solidFill>
            <a:srgbClr val="EAF3EA"/>
          </a:solidFill>
          <a:ln w="15875">
            <a:solidFill>
              <a:srgbClr val="3E7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3E7B3E"/>
                </a:solidFill>
              </a:rPr>
              <a:t>app-2  ✓ hazır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465576"/>
            <a:ext cx="4206240" cy="566928"/>
          </a:xfrm>
          <a:prstGeom prst="roundRect">
            <a:avLst/>
          </a:prstGeom>
          <a:solidFill>
            <a:srgbClr val="F9ECEA"/>
          </a:solidFill>
          <a:ln w="15875">
            <a:solidFill>
              <a:srgbClr val="B04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B0403A"/>
                </a:solidFill>
              </a:rPr>
              <a:t>app-3  ✗ regresyon TAKILDI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51760" y="4032504"/>
            <a:ext cx="0" cy="493776"/>
          </a:xfrm>
          <a:prstGeom prst="line">
            <a:avLst/>
          </a:prstGeom>
          <a:ln w="22225">
            <a:solidFill>
              <a:srgbClr val="B040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4526280"/>
            <a:ext cx="4206240" cy="1051560"/>
          </a:xfrm>
          <a:prstGeom prst="roundRect">
            <a:avLst/>
          </a:prstGeom>
          <a:solidFill>
            <a:srgbClr val="F9ECEA"/>
          </a:solidFill>
          <a:ln w="15875">
            <a:solidFill>
              <a:srgbClr val="B04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B0403A"/>
                </a:solidFill>
              </a:rPr>
              <a:t>CVE PROD'a çıkamaz</a:t>
            </a:r>
          </a:p>
          <a:p>
            <a:pPr algn="ctr"/>
            <a:r>
              <a:rPr sz="1100">
                <a:solidFill>
                  <a:srgbClr val="262626"/>
                </a:solidFill>
              </a:rPr>
              <a:t>release birimi: module + TÜM app'ler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81328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864"/>
                </a:solidFill>
              </a:rPr>
              <a:t>2 — Restart kuplajı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057400"/>
            <a:ext cx="5212080" cy="731520"/>
          </a:xfrm>
          <a:prstGeom prst="roundRect">
            <a:avLst/>
          </a:prstGeom>
          <a:solidFill>
            <a:srgbClr val="EEF2F8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>
                <a:solidFill>
                  <a:srgbClr val="1F3864"/>
                </a:solidFill>
              </a:rPr>
              <a:t>com.zeus module güncellendi</a:t>
            </a:r>
          </a:p>
          <a:p>
            <a:pPr algn="ctr"/>
            <a:r>
              <a:rPr sz="1000">
                <a:solidFill>
                  <a:srgbClr val="262626"/>
                </a:solidFill>
              </a:rPr>
              <a:t>BOM override → install</a:t>
            </a:r>
          </a:p>
        </p:txBody>
      </p:sp>
      <p:sp>
        <p:nvSpPr>
          <p:cNvPr id="12" name="Lightning Bolt 11"/>
          <p:cNvSpPr/>
          <p:nvPr/>
        </p:nvSpPr>
        <p:spPr>
          <a:xfrm>
            <a:off x="8732520" y="2834640"/>
            <a:ext cx="548640" cy="685800"/>
          </a:xfrm>
          <a:prstGeom prst="lightningBolt">
            <a:avLst/>
          </a:prstGeom>
          <a:solidFill>
            <a:srgbClr val="B04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3611880"/>
            <a:ext cx="5212080" cy="22860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B04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55664" y="3666744"/>
            <a:ext cx="5102352" cy="420624"/>
          </a:xfrm>
          <a:prstGeom prst="roundRect">
            <a:avLst/>
          </a:prstGeom>
          <a:solidFill>
            <a:srgbClr val="B04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18288"/>
          <a:lstStyle/>
          <a:p>
            <a:pPr algn="l"/>
            <a:r>
              <a:rPr sz="1300" b="1">
                <a:solidFill>
                  <a:srgbClr val="FFFFFF"/>
                </a:solidFill>
              </a:rPr>
              <a:t>🖥  WildFly — RESTART</a:t>
            </a:r>
          </a:p>
        </p:txBody>
      </p:sp>
      <p:sp>
        <p:nvSpPr>
          <p:cNvPr id="15" name="Oval 14"/>
          <p:cNvSpPr/>
          <p:nvPr/>
        </p:nvSpPr>
        <p:spPr>
          <a:xfrm>
            <a:off x="10927080" y="3803904"/>
            <a:ext cx="128016" cy="128016"/>
          </a:xfrm>
          <a:prstGeom prst="ellipse">
            <a:avLst/>
          </a:prstGeom>
          <a:solidFill>
            <a:srgbClr val="B04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128248" y="3803904"/>
            <a:ext cx="128016" cy="128016"/>
          </a:xfrm>
          <a:prstGeom prst="ellipse">
            <a:avLst/>
          </a:prstGeom>
          <a:solidFill>
            <a:srgbClr val="B04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329416" y="3803904"/>
            <a:ext cx="128016" cy="128016"/>
          </a:xfrm>
          <a:prstGeom prst="ellipse">
            <a:avLst/>
          </a:prstGeom>
          <a:solidFill>
            <a:srgbClr val="B04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olded Corner 17"/>
          <p:cNvSpPr/>
          <p:nvPr/>
        </p:nvSpPr>
        <p:spPr>
          <a:xfrm>
            <a:off x="6720840" y="4297680"/>
            <a:ext cx="1463040" cy="914400"/>
          </a:xfrm>
          <a:prstGeom prst="foldedCorner">
            <a:avLst/>
          </a:prstGeom>
          <a:solidFill>
            <a:srgbClr val="F9ECEA"/>
          </a:solidFill>
          <a:ln w="15875">
            <a:solidFill>
              <a:srgbClr val="B04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B0403A"/>
                </a:solidFill>
              </a:rPr>
              <a:t>app-1 ✗</a:t>
            </a:r>
          </a:p>
          <a:p>
            <a:pPr algn="ctr"/>
            <a:r>
              <a:rPr sz="950">
                <a:solidFill>
                  <a:srgbClr val="262626"/>
                </a:solidFill>
              </a:rPr>
              <a:t>kesinti</a:t>
            </a:r>
          </a:p>
        </p:txBody>
      </p:sp>
      <p:sp>
        <p:nvSpPr>
          <p:cNvPr id="19" name="Folded Corner 18"/>
          <p:cNvSpPr/>
          <p:nvPr/>
        </p:nvSpPr>
        <p:spPr>
          <a:xfrm>
            <a:off x="8412480" y="4297680"/>
            <a:ext cx="1463040" cy="914400"/>
          </a:xfrm>
          <a:prstGeom prst="foldedCorner">
            <a:avLst/>
          </a:prstGeom>
          <a:solidFill>
            <a:srgbClr val="F9ECEA"/>
          </a:solidFill>
          <a:ln w="15875">
            <a:solidFill>
              <a:srgbClr val="B04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B0403A"/>
                </a:solidFill>
              </a:rPr>
              <a:t>app-2 ✗</a:t>
            </a:r>
          </a:p>
          <a:p>
            <a:pPr algn="ctr"/>
            <a:r>
              <a:rPr sz="950">
                <a:solidFill>
                  <a:srgbClr val="262626"/>
                </a:solidFill>
              </a:rPr>
              <a:t>kesinti</a:t>
            </a:r>
          </a:p>
        </p:txBody>
      </p:sp>
      <p:sp>
        <p:nvSpPr>
          <p:cNvPr id="20" name="Folded Corner 19"/>
          <p:cNvSpPr/>
          <p:nvPr/>
        </p:nvSpPr>
        <p:spPr>
          <a:xfrm>
            <a:off x="10104120" y="4297680"/>
            <a:ext cx="1463040" cy="914400"/>
          </a:xfrm>
          <a:prstGeom prst="foldedCorner">
            <a:avLst/>
          </a:prstGeom>
          <a:solidFill>
            <a:srgbClr val="F9ECEA"/>
          </a:solidFill>
          <a:ln w="15875">
            <a:solidFill>
              <a:srgbClr val="B04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B0403A"/>
                </a:solidFill>
              </a:rPr>
              <a:t>app-3 ✗</a:t>
            </a:r>
          </a:p>
          <a:p>
            <a:pPr algn="ctr"/>
            <a:r>
              <a:rPr sz="950">
                <a:solidFill>
                  <a:srgbClr val="262626"/>
                </a:solidFill>
              </a:rPr>
              <a:t>kesinti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03504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B0403A"/>
                </a:solidFill>
              </a:rPr>
              <a:t>her CVE = bakım penceresi + koordinasyon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5A5A5A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5EAA"/>
                </a:solidFill>
              </a:rPr>
              <a:t>KAVRAM</a:t>
            </a:r>
          </a:p>
          <a:p>
            <a:r>
              <a:rPr sz="2900" b="1">
                <a:solidFill>
                  <a:srgbClr val="1F3864"/>
                </a:solidFill>
              </a:rPr>
              <a:t>Çözüm: Versiyonlu Module Slot'ları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08760"/>
            <a:ext cx="11247120" cy="30175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12064" y="1563624"/>
            <a:ext cx="11137392" cy="420624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18288"/>
          <a:lstStyle/>
          <a:p>
            <a:pPr algn="l"/>
            <a:r>
              <a:rPr sz="1300" b="1">
                <a:solidFill>
                  <a:srgbClr val="FFFFFF"/>
                </a:solidFill>
              </a:rPr>
              <a:t>🖥  WildFly (prod)  —  modules/com/zeus/   ·   YENİ slot eklemek: RESTART YOK</a:t>
            </a:r>
          </a:p>
        </p:txBody>
      </p:sp>
      <p:sp>
        <p:nvSpPr>
          <p:cNvPr id="6" name="Oval 5"/>
          <p:cNvSpPr/>
          <p:nvPr/>
        </p:nvSpPr>
        <p:spPr>
          <a:xfrm>
            <a:off x="11018520" y="1700784"/>
            <a:ext cx="128016" cy="128016"/>
          </a:xfrm>
          <a:prstGeom prst="ellipse">
            <a:avLst/>
          </a:prstGeom>
          <a:solidFill>
            <a:srgbClr val="4CC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19688" y="1700784"/>
            <a:ext cx="128016" cy="128016"/>
          </a:xfrm>
          <a:prstGeom prst="ellipse">
            <a:avLst/>
          </a:prstGeom>
          <a:solidFill>
            <a:srgbClr val="4CC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20856" y="1700784"/>
            <a:ext cx="128016" cy="128016"/>
          </a:xfrm>
          <a:prstGeom prst="ellipse">
            <a:avLst/>
          </a:prstGeom>
          <a:solidFill>
            <a:srgbClr val="B07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286000"/>
            <a:ext cx="1382572" cy="274320"/>
          </a:xfrm>
          <a:prstGeom prst="roundRect">
            <a:avLst/>
          </a:prstGeom>
          <a:solidFill>
            <a:srgbClr val="E8E8E8"/>
          </a:solidFill>
          <a:ln w="15875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450592"/>
            <a:ext cx="3291840" cy="1389888"/>
          </a:xfrm>
          <a:prstGeom prst="roundRect">
            <a:avLst/>
          </a:prstGeom>
          <a:solidFill>
            <a:srgbClr val="E8E8E8"/>
          </a:solidFill>
          <a:ln w="15875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>
                <a:solidFill>
                  <a:srgbClr val="262626"/>
                </a:solidFill>
                <a:latin typeface="Consolas"/>
              </a:rPr>
              <a:t>com/zeus/main/</a:t>
            </a:r>
          </a:p>
          <a:p>
            <a:pPr algn="ctr"/>
            <a:r>
              <a:rPr sz="1050">
                <a:solidFill>
                  <a:srgbClr val="262626"/>
                </a:solidFill>
              </a:rPr>
              <a:t>bugünkü içerik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286000"/>
            <a:ext cx="1382572" cy="274320"/>
          </a:xfrm>
          <a:prstGeom prst="roundRect">
            <a:avLst/>
          </a:prstGeom>
          <a:solidFill>
            <a:srgbClr val="EEF2F8"/>
          </a:solidFill>
          <a:ln w="15875">
            <a:solidFill>
              <a:srgbClr val="2E5E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0" y="2450592"/>
            <a:ext cx="3291840" cy="1389888"/>
          </a:xfrm>
          <a:prstGeom prst="roundRect">
            <a:avLst/>
          </a:prstGeom>
          <a:solidFill>
            <a:srgbClr val="EEF2F8"/>
          </a:solidFill>
          <a:ln w="15875">
            <a:solidFill>
              <a:srgbClr val="2E5E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>
                <a:solidFill>
                  <a:srgbClr val="2E5EAA"/>
                </a:solidFill>
                <a:latin typeface="Consolas"/>
              </a:rPr>
              <a:t>com/zeus/1.1.0/</a:t>
            </a:r>
          </a:p>
          <a:p>
            <a:pPr algn="ctr"/>
            <a:r>
              <a:rPr sz="1050">
                <a:solidFill>
                  <a:srgbClr val="262626"/>
                </a:solidFill>
              </a:rPr>
              <a:t>immutable — BOM release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286000"/>
            <a:ext cx="1382572" cy="274320"/>
          </a:xfrm>
          <a:prstGeom prst="roundRect">
            <a:avLst/>
          </a:prstGeom>
          <a:solidFill>
            <a:srgbClr val="EAF3EA"/>
          </a:solidFill>
          <a:ln w="15875">
            <a:solidFill>
              <a:srgbClr val="3E7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0" y="2450592"/>
            <a:ext cx="3291840" cy="1389888"/>
          </a:xfrm>
          <a:prstGeom prst="roundRect">
            <a:avLst/>
          </a:prstGeom>
          <a:solidFill>
            <a:srgbClr val="EAF3EA"/>
          </a:solidFill>
          <a:ln w="15875">
            <a:solidFill>
              <a:srgbClr val="3E7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>
                <a:solidFill>
                  <a:srgbClr val="3E7B3E"/>
                </a:solidFill>
                <a:latin typeface="Consolas"/>
              </a:rPr>
              <a:t>com/zeus/1.1.1/</a:t>
            </a:r>
          </a:p>
          <a:p>
            <a:pPr algn="ctr"/>
            <a:r>
              <a:rPr sz="1050">
                <a:solidFill>
                  <a:srgbClr val="262626"/>
                </a:solidFill>
              </a:rPr>
              <a:t>immutable — CVE yamalı 🔒</a:t>
            </a:r>
          </a:p>
        </p:txBody>
      </p:sp>
      <p:sp>
        <p:nvSpPr>
          <p:cNvPr id="15" name="Folded Corner 14"/>
          <p:cNvSpPr/>
          <p:nvPr/>
        </p:nvSpPr>
        <p:spPr>
          <a:xfrm>
            <a:off x="1463040" y="5029200"/>
            <a:ext cx="3657600" cy="1143000"/>
          </a:xfrm>
          <a:prstGeom prst="foldedCorner">
            <a:avLst/>
          </a:prstGeom>
          <a:solidFill>
            <a:srgbClr val="FFFFFF"/>
          </a:solidFill>
          <a:ln w="15875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>
                <a:solidFill>
                  <a:srgbClr val="5A5A5A"/>
                </a:solidFill>
              </a:rPr>
              <a:t>app-A.war</a:t>
            </a:r>
          </a:p>
          <a:p>
            <a:pPr algn="ctr"/>
            <a:r>
              <a:rPr sz="1050">
                <a:solidFill>
                  <a:srgbClr val="262626"/>
                </a:solidFill>
                <a:latin typeface="Consolas"/>
              </a:rPr>
              <a:t>slot="main"</a:t>
            </a:r>
          </a:p>
        </p:txBody>
      </p:sp>
      <p:sp>
        <p:nvSpPr>
          <p:cNvPr id="16" name="Folded Corner 15"/>
          <p:cNvSpPr/>
          <p:nvPr/>
        </p:nvSpPr>
        <p:spPr>
          <a:xfrm>
            <a:off x="7132320" y="5029200"/>
            <a:ext cx="3657600" cy="1143000"/>
          </a:xfrm>
          <a:prstGeom prst="foldedCorner">
            <a:avLst/>
          </a:prstGeom>
          <a:solidFill>
            <a:srgbClr val="FFFFFF"/>
          </a:solidFill>
          <a:ln w="15875">
            <a:solidFill>
              <a:srgbClr val="3E7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>
                <a:solidFill>
                  <a:srgbClr val="3E7B3E"/>
                </a:solidFill>
              </a:rPr>
              <a:t>app-B.war</a:t>
            </a:r>
          </a:p>
          <a:p>
            <a:pPr algn="ctr"/>
            <a:r>
              <a:rPr sz="1050">
                <a:solidFill>
                  <a:srgbClr val="262626"/>
                </a:solidFill>
                <a:latin typeface="Consolas"/>
              </a:rPr>
              <a:t>slot="1.1.1"</a:t>
            </a:r>
          </a:p>
        </p:txBody>
      </p:sp>
      <p:cxnSp>
        <p:nvCxnSpPr>
          <p:cNvPr id="17" name="Connector 16"/>
          <p:cNvCxnSpPr/>
          <p:nvPr/>
        </p:nvCxnSpPr>
        <p:spPr>
          <a:xfrm flipH="1" flipV="1">
            <a:off x="2560320" y="3858768"/>
            <a:ext cx="731520" cy="1170432"/>
          </a:xfrm>
          <a:prstGeom prst="line">
            <a:avLst/>
          </a:prstGeom>
          <a:ln w="22225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961120" y="3858768"/>
            <a:ext cx="914400" cy="1170432"/>
          </a:xfrm>
          <a:prstGeom prst="line">
            <a:avLst/>
          </a:prstGeom>
          <a:ln w="22225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63093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E7B3E"/>
                </a:solidFill>
              </a:rPr>
              <a:t>slot immutable · her app kendi hızında geçer → lockstep VE restart birlikte çözülür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5A5A5A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5EAA"/>
                </a:solidFill>
              </a:rPr>
              <a:t>ELENEN ALTERNATİF</a:t>
            </a:r>
          </a:p>
          <a:p>
            <a:r>
              <a:rPr sz="2900" b="1">
                <a:solidFill>
                  <a:srgbClr val="1F3864"/>
                </a:solidFill>
              </a:rPr>
              <a:t>Neden stage/normal İki Module Değil?</a:t>
            </a:r>
          </a:p>
        </p:txBody>
      </p:sp>
      <p:sp>
        <p:nvSpPr>
          <p:cNvPr id="4" name="Can 3"/>
          <p:cNvSpPr/>
          <p:nvPr/>
        </p:nvSpPr>
        <p:spPr>
          <a:xfrm>
            <a:off x="1097280" y="1737360"/>
            <a:ext cx="4206240" cy="1371600"/>
          </a:xfrm>
          <a:prstGeom prst="can">
            <a:avLst/>
          </a:prstGeom>
          <a:solidFill>
            <a:srgbClr val="FBF3E2"/>
          </a:solidFill>
          <a:ln w="15875">
            <a:solidFill>
              <a:srgbClr val="B07D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B07D22"/>
                </a:solidFill>
              </a:rPr>
              <a:t>com.zeus.normal</a:t>
            </a:r>
          </a:p>
          <a:p>
            <a:pPr algn="ctr"/>
            <a:r>
              <a:rPr sz="1100">
                <a:solidFill>
                  <a:srgbClr val="262626"/>
                </a:solidFill>
              </a:rPr>
              <a:t>kararlı — ama içerik zamanla değişir</a:t>
            </a:r>
          </a:p>
        </p:txBody>
      </p:sp>
      <p:sp>
        <p:nvSpPr>
          <p:cNvPr id="5" name="Can 4"/>
          <p:cNvSpPr/>
          <p:nvPr/>
        </p:nvSpPr>
        <p:spPr>
          <a:xfrm>
            <a:off x="6858000" y="1737360"/>
            <a:ext cx="4206240" cy="1371600"/>
          </a:xfrm>
          <a:prstGeom prst="can">
            <a:avLst/>
          </a:prstGeom>
          <a:solidFill>
            <a:srgbClr val="FBF3E2"/>
          </a:solidFill>
          <a:ln w="15875">
            <a:solidFill>
              <a:srgbClr val="B07D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B07D22"/>
                </a:solidFill>
              </a:rPr>
              <a:t>com.zeus.stage</a:t>
            </a:r>
          </a:p>
          <a:p>
            <a:pPr algn="ctr"/>
            <a:r>
              <a:rPr sz="1100">
                <a:solidFill>
                  <a:srgbClr val="262626"/>
                </a:solidFill>
              </a:rPr>
              <a:t>CVE adayı — içerik DEĞİŞKEN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749039"/>
            <a:ext cx="3566160" cy="1554480"/>
          </a:xfrm>
          <a:prstGeom prst="roundRect">
            <a:avLst/>
          </a:prstGeom>
          <a:solidFill>
            <a:srgbClr val="F9ECEA"/>
          </a:solidFill>
          <a:ln w="15875">
            <a:solidFill>
              <a:srgbClr val="B04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B0403A"/>
                </a:solidFill>
              </a:rPr>
              <a:t>✗ Şerit ≠ sürüm</a:t>
            </a:r>
          </a:p>
          <a:p>
            <a:pPr algn="ctr"/>
            <a:r>
              <a:rPr sz="1150">
                <a:solidFill>
                  <a:srgbClr val="262626"/>
                </a:solidFill>
              </a:rPr>
              <a:t>isim sabit, içerik değişken → BOM izlenebilirliği kaybolur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3749039"/>
            <a:ext cx="3566160" cy="1554480"/>
          </a:xfrm>
          <a:prstGeom prst="roundRect">
            <a:avLst/>
          </a:prstGeom>
          <a:solidFill>
            <a:srgbClr val="F9ECEA"/>
          </a:solidFill>
          <a:ln w="15875">
            <a:solidFill>
              <a:srgbClr val="B04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B0403A"/>
                </a:solidFill>
              </a:rPr>
              <a:t>✗ Promotion tanımsız</a:t>
            </a:r>
          </a:p>
          <a:p>
            <a:pPr algn="ctr"/>
            <a:r>
              <a:rPr sz="1150">
                <a:solidFill>
                  <a:srgbClr val="262626"/>
                </a:solidFill>
              </a:rPr>
              <a:t>stage→normal kopyalanırsa lockstep geri gelir; 2. CVE'de şerit kalmaz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3749039"/>
            <a:ext cx="3566160" cy="1554480"/>
          </a:xfrm>
          <a:prstGeom prst="roundRect">
            <a:avLst/>
          </a:prstGeom>
          <a:solidFill>
            <a:srgbClr val="F9ECEA"/>
          </a:solidFill>
          <a:ln w="15875">
            <a:solidFill>
              <a:srgbClr val="B04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B0403A"/>
                </a:solidFill>
              </a:rPr>
              <a:t>✗ Restart çözülmüyor</a:t>
            </a:r>
          </a:p>
          <a:p>
            <a:pPr algn="ctr"/>
            <a:r>
              <a:rPr sz="1150">
                <a:solidFill>
                  <a:srgbClr val="262626"/>
                </a:solidFill>
              </a:rPr>
              <a:t>stage güncellemek de restart ister → normal'dekiler de kesilir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760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2626"/>
                </a:solidFill>
              </a:rPr>
              <a:t>İki durumlu model N sürümlü problemi çözemez — slot'lar aynı fikrin sürümlü/immutable halidir.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5A5A5A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5EAA"/>
                </a:solidFill>
              </a:rPr>
              <a:t>UYGULANDI</a:t>
            </a:r>
          </a:p>
          <a:p>
            <a:r>
              <a:rPr sz="2900" b="1">
                <a:solidFill>
                  <a:srgbClr val="1F3864"/>
                </a:solidFill>
              </a:rPr>
              <a:t>Descriptor'ı Developer Değil, Framework Üretir</a:t>
            </a:r>
          </a:p>
        </p:txBody>
      </p:sp>
      <p:sp>
        <p:nvSpPr>
          <p:cNvPr id="4" name="Folded Corner 3"/>
          <p:cNvSpPr/>
          <p:nvPr/>
        </p:nvSpPr>
        <p:spPr>
          <a:xfrm>
            <a:off x="457200" y="2011680"/>
            <a:ext cx="2468880" cy="1737360"/>
          </a:xfrm>
          <a:prstGeom prst="foldedCorner">
            <a:avLst/>
          </a:prstGeom>
          <a:solidFill>
            <a:srgbClr val="EEF2F8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>
                <a:solidFill>
                  <a:srgbClr val="1F3864"/>
                </a:solidFill>
              </a:rPr>
              <a:t>zeus-war-defaults</a:t>
            </a:r>
          </a:p>
          <a:p>
            <a:pPr algn="ctr"/>
            <a:r>
              <a:rPr sz="1000">
                <a:solidFill>
                  <a:srgbClr val="262626"/>
                </a:solidFill>
              </a:rPr>
              <a:t>şablon descriptor
slot=${zeus.module.slot}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926080" y="2880360"/>
            <a:ext cx="438912" cy="0"/>
          </a:xfrm>
          <a:prstGeom prst="line">
            <a:avLst/>
          </a:prstGeom>
          <a:ln w="22225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Gear 6 5"/>
          <p:cNvSpPr/>
          <p:nvPr/>
        </p:nvSpPr>
        <p:spPr>
          <a:xfrm>
            <a:off x="5138928" y="1691640"/>
            <a:ext cx="502920" cy="502920"/>
          </a:xfrm>
          <a:prstGeom prst="gear6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83280" y="2240280"/>
            <a:ext cx="2468880" cy="1508760"/>
          </a:xfrm>
          <a:prstGeom prst="roundRect">
            <a:avLst/>
          </a:prstGeom>
          <a:solidFill>
            <a:srgbClr val="EEF2F8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F3864"/>
                </a:solidFill>
              </a:rPr>
              <a:t>mvn package</a:t>
            </a:r>
          </a:p>
          <a:p>
            <a:pPr algn="ctr"/>
            <a:r>
              <a:rPr sz="1000">
                <a:solidFill>
                  <a:srgbClr val="262626"/>
                </a:solidFill>
              </a:rPr>
              <a:t>zeus-parent profili:
unpack → filtering → WEB-INF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852160" y="2880360"/>
            <a:ext cx="438912" cy="0"/>
          </a:xfrm>
          <a:prstGeom prst="line">
            <a:avLst/>
          </a:prstGeom>
          <a:ln w="22225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olded Corner 8"/>
          <p:cNvSpPr/>
          <p:nvPr/>
        </p:nvSpPr>
        <p:spPr>
          <a:xfrm>
            <a:off x="6309360" y="2011680"/>
            <a:ext cx="2468880" cy="1737360"/>
          </a:xfrm>
          <a:prstGeom prst="foldedCorner">
            <a:avLst/>
          </a:prstGeom>
          <a:solidFill>
            <a:srgbClr val="EAF3EA"/>
          </a:solidFill>
          <a:ln w="15875">
            <a:solidFill>
              <a:srgbClr val="3E7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>
                <a:solidFill>
                  <a:srgbClr val="3E7B3E"/>
                </a:solidFill>
              </a:rPr>
              <a:t>İnce WAR</a:t>
            </a:r>
          </a:p>
          <a:p>
            <a:pPr algn="ctr"/>
            <a:r>
              <a:rPr sz="1000">
                <a:solidFill>
                  <a:srgbClr val="262626"/>
                </a:solidFill>
              </a:rPr>
              <a:t>üretilmiş descriptor,
slot dolu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778240" y="2880360"/>
            <a:ext cx="438912" cy="0"/>
          </a:xfrm>
          <a:prstGeom prst="line">
            <a:avLst/>
          </a:prstGeom>
          <a:ln w="22225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235440" y="2011680"/>
            <a:ext cx="2514600" cy="173736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290304" y="2066544"/>
            <a:ext cx="2404872" cy="420624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18288"/>
          <a:lstStyle/>
          <a:p>
            <a:pPr algn="l"/>
            <a:r>
              <a:rPr sz="1300" b="1">
                <a:solidFill>
                  <a:srgbClr val="FFFFFF"/>
                </a:solidFill>
              </a:rPr>
              <a:t>🖥  WildFly</a:t>
            </a:r>
          </a:p>
        </p:txBody>
      </p:sp>
      <p:sp>
        <p:nvSpPr>
          <p:cNvPr id="13" name="Oval 12"/>
          <p:cNvSpPr/>
          <p:nvPr/>
        </p:nvSpPr>
        <p:spPr>
          <a:xfrm>
            <a:off x="11064240" y="2203704"/>
            <a:ext cx="128016" cy="128016"/>
          </a:xfrm>
          <a:prstGeom prst="ellipse">
            <a:avLst/>
          </a:prstGeom>
          <a:solidFill>
            <a:srgbClr val="4CC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265408" y="2203704"/>
            <a:ext cx="128016" cy="128016"/>
          </a:xfrm>
          <a:prstGeom prst="ellipse">
            <a:avLst/>
          </a:prstGeom>
          <a:solidFill>
            <a:srgbClr val="4CC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466576" y="2203704"/>
            <a:ext cx="128016" cy="128016"/>
          </a:xfrm>
          <a:prstGeom prst="ellipse">
            <a:avLst/>
          </a:prstGeom>
          <a:solidFill>
            <a:srgbClr val="B07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64040" y="30632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</a:rPr>
              <a:t>com.zeus:&lt;slot&gt;'a bağlanır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434840"/>
            <a:ext cx="5394960" cy="1188720"/>
          </a:xfrm>
          <a:prstGeom prst="roundRect">
            <a:avLst/>
          </a:prstGeom>
          <a:solidFill>
            <a:srgbClr val="EEF2F8"/>
          </a:solidFill>
          <a:ln w="15875">
            <a:solidFill>
              <a:srgbClr val="2E5E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2E5EAA"/>
                </a:solidFill>
              </a:rPr>
              <a:t>Aktivasyon: src/main/webapp var mı?</a:t>
            </a:r>
          </a:p>
          <a:p>
            <a:pPr algn="ctr"/>
            <a:r>
              <a:rPr sz="1100">
                <a:solidFill>
                  <a:srgbClr val="262626"/>
                </a:solidFill>
              </a:rPr>
              <a:t>profil yalnız WAR app'lerde; boş dizin .gitkeep ile tutulur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4434840"/>
            <a:ext cx="5394960" cy="1188720"/>
          </a:xfrm>
          <a:prstGeom prst="roundRect">
            <a:avLst/>
          </a:prstGeom>
          <a:solidFill>
            <a:srgbClr val="EAF3EA"/>
          </a:solidFill>
          <a:ln w="15875">
            <a:solidFill>
              <a:srgbClr val="3E7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3E7B3E"/>
                </a:solidFill>
              </a:rPr>
              <a:t>Elle kopya kalsa bile üretilen KAZANIR</a:t>
            </a:r>
          </a:p>
          <a:p>
            <a:pPr algn="ctr"/>
            <a:r>
              <a:rPr sz="1100">
                <a:solidFill>
                  <a:srgbClr val="262626"/>
                </a:solidFill>
              </a:rPr>
              <a:t>webResources, src/main/webapp'tan önce işlenir (doğrulandı)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897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3E7B3E"/>
                </a:solidFill>
              </a:rPr>
              <a:t>Developer dosyayı ne yazar ne görür → global-modules'un 'bozamazsın' garantisi app seviyesinde.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5A5A5A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5EAA"/>
                </a:solidFill>
              </a:rPr>
              <a:t>UYGULANDI</a:t>
            </a:r>
          </a:p>
          <a:p>
            <a:r>
              <a:rPr sz="2900" b="1">
                <a:solidFill>
                  <a:srgbClr val="1F3864"/>
                </a:solidFill>
              </a:rPr>
              <a:t>Slot Seçimi Otomatik: slot = zeus-parent Sürümü</a:t>
            </a:r>
          </a:p>
        </p:txBody>
      </p:sp>
      <p:sp>
        <p:nvSpPr>
          <p:cNvPr id="4" name="Folded Corner 3"/>
          <p:cNvSpPr/>
          <p:nvPr/>
        </p:nvSpPr>
        <p:spPr>
          <a:xfrm>
            <a:off x="457200" y="2194560"/>
            <a:ext cx="2057400" cy="1463040"/>
          </a:xfrm>
          <a:prstGeom prst="foldedCorner">
            <a:avLst/>
          </a:prstGeom>
          <a:solidFill>
            <a:srgbClr val="FFFFFF"/>
          </a:solidFill>
          <a:ln w="15875">
            <a:solidFill>
              <a:srgbClr val="2E5E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>
                <a:solidFill>
                  <a:srgbClr val="2E5EAA"/>
                </a:solidFill>
              </a:rPr>
              <a:t>app pom.xml</a:t>
            </a:r>
          </a:p>
          <a:p>
            <a:pPr algn="ctr"/>
            <a:r>
              <a:rPr sz="1050">
                <a:solidFill>
                  <a:srgbClr val="262626"/>
                </a:solidFill>
                <a:latin typeface="Consolas"/>
              </a:rPr>
              <a:t>&lt;parent&gt; sürümü: 1.1.1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61488" y="2194560"/>
            <a:ext cx="2057400" cy="1463040"/>
          </a:xfrm>
          <a:prstGeom prst="roundRect">
            <a:avLst/>
          </a:prstGeom>
          <a:solidFill>
            <a:srgbClr val="EEF2F8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>
                <a:solidFill>
                  <a:srgbClr val="1F3864"/>
                </a:solidFill>
              </a:rPr>
              <a:t>Maven</a:t>
            </a:r>
          </a:p>
          <a:p>
            <a:pPr algn="ctr"/>
            <a:r>
              <a:rPr sz="1050">
                <a:solidFill>
                  <a:srgbClr val="262626"/>
                </a:solidFill>
                <a:latin typeface="Consolas"/>
              </a:rPr>
              <a:t>parent.version = 1.1.1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65776" y="2194560"/>
            <a:ext cx="2057400" cy="1463040"/>
          </a:xfrm>
          <a:prstGeom prst="roundRect">
            <a:avLst/>
          </a:prstGeom>
          <a:solidFill>
            <a:srgbClr val="EEF2F8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>
                <a:solidFill>
                  <a:srgbClr val="1F3864"/>
                </a:solidFill>
              </a:rPr>
              <a:t>zeus-parent</a:t>
            </a:r>
          </a:p>
          <a:p>
            <a:pPr algn="ctr"/>
            <a:r>
              <a:rPr sz="1050">
                <a:solidFill>
                  <a:srgbClr val="262626"/>
                </a:solidFill>
                <a:latin typeface="Consolas"/>
              </a:rPr>
              <a:t>zeus.module.slot = 1.1.1</a:t>
            </a:r>
          </a:p>
        </p:txBody>
      </p:sp>
      <p:sp>
        <p:nvSpPr>
          <p:cNvPr id="7" name="Folded Corner 6"/>
          <p:cNvSpPr/>
          <p:nvPr/>
        </p:nvSpPr>
        <p:spPr>
          <a:xfrm>
            <a:off x="7370064" y="2194560"/>
            <a:ext cx="2057400" cy="1463040"/>
          </a:xfrm>
          <a:prstGeom prst="foldedCorner">
            <a:avLst/>
          </a:prstGeom>
          <a:solidFill>
            <a:srgbClr val="EAF3EA"/>
          </a:solidFill>
          <a:ln w="15875">
            <a:solidFill>
              <a:srgbClr val="3E7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>
                <a:solidFill>
                  <a:srgbClr val="3E7B3E"/>
                </a:solidFill>
              </a:rPr>
              <a:t>descriptor</a:t>
            </a:r>
          </a:p>
          <a:p>
            <a:pPr algn="ctr"/>
            <a:r>
              <a:rPr sz="1050">
                <a:solidFill>
                  <a:srgbClr val="262626"/>
                </a:solidFill>
                <a:latin typeface="Consolas"/>
              </a:rPr>
              <a:t>slot="1.1.1"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74352" y="2240280"/>
            <a:ext cx="864108" cy="274320"/>
          </a:xfrm>
          <a:prstGeom prst="roundRect">
            <a:avLst/>
          </a:prstGeom>
          <a:solidFill>
            <a:srgbClr val="EAF3EA"/>
          </a:solidFill>
          <a:ln w="15875">
            <a:solidFill>
              <a:srgbClr val="3E7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74352" y="2404872"/>
            <a:ext cx="2057400" cy="1252728"/>
          </a:xfrm>
          <a:prstGeom prst="roundRect">
            <a:avLst/>
          </a:prstGeom>
          <a:solidFill>
            <a:srgbClr val="EAF3EA"/>
          </a:solidFill>
          <a:ln w="15875">
            <a:solidFill>
              <a:srgbClr val="3E7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3E7B3E"/>
                </a:solidFill>
                <a:latin typeface="Consolas"/>
              </a:rPr>
              <a:t>com/zeus/1.1.1/</a:t>
            </a:r>
          </a:p>
          <a:p>
            <a:pPr algn="ctr"/>
            <a:r>
              <a:rPr sz="1000">
                <a:solidFill>
                  <a:srgbClr val="262626"/>
                </a:solidFill>
              </a:rPr>
              <a:t>WildFly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14600" y="2926080"/>
            <a:ext cx="228600" cy="0"/>
          </a:xfrm>
          <a:prstGeom prst="line">
            <a:avLst/>
          </a:prstGeom>
          <a:ln w="22225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818888" y="2926080"/>
            <a:ext cx="228600" cy="0"/>
          </a:xfrm>
          <a:prstGeom prst="line">
            <a:avLst/>
          </a:prstGeom>
          <a:ln w="22225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123176" y="2926080"/>
            <a:ext cx="228599" cy="0"/>
          </a:xfrm>
          <a:prstGeom prst="line">
            <a:avLst/>
          </a:prstGeom>
          <a:ln w="22225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427464" y="2926080"/>
            <a:ext cx="228600" cy="0"/>
          </a:xfrm>
          <a:prstGeom prst="line">
            <a:avLst/>
          </a:prstGeom>
          <a:ln w="22225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57200" y="4297680"/>
            <a:ext cx="5394960" cy="1371600"/>
          </a:xfrm>
          <a:prstGeom prst="roundRect">
            <a:avLst/>
          </a:prstGeom>
          <a:solidFill>
            <a:srgbClr val="EAF3EA"/>
          </a:solidFill>
          <a:ln w="15875">
            <a:solidFill>
              <a:srgbClr val="3E7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3E7B3E"/>
                </a:solidFill>
              </a:rPr>
              <a:t>App'in TEK hamlesi</a:t>
            </a:r>
          </a:p>
          <a:p>
            <a:pPr algn="ctr"/>
            <a:r>
              <a:rPr sz="1150">
                <a:solidFill>
                  <a:srgbClr val="262626"/>
                </a:solidFill>
              </a:rPr>
              <a:t>parent sürümünü değiştir — property/dosya/DevOps adımı yok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4297680"/>
            <a:ext cx="5394960" cy="1371600"/>
          </a:xfrm>
          <a:prstGeom prst="roundRect">
            <a:avLst/>
          </a:prstGeom>
          <a:solidFill>
            <a:srgbClr val="EEF2F8"/>
          </a:solidFill>
          <a:ln w="15875">
            <a:solidFill>
              <a:srgbClr val="2E5E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2E5EAA"/>
                </a:solidFill>
              </a:rPr>
              <a:t>Platform release'te sabitler</a:t>
            </a:r>
          </a:p>
          <a:p>
            <a:pPr algn="ctr"/>
            <a:r>
              <a:rPr sz="1150">
                <a:solidFill>
                  <a:srgbClr val="262626"/>
                </a:solidFill>
              </a:rPr>
              <a:t>module içeriği değişmediyse slot aynı kalır → gereksiz 43 MB kopya yok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5A5A5A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5EAA"/>
                </a:solidFill>
              </a:rPr>
              <a:t>UYGULANDI</a:t>
            </a:r>
          </a:p>
          <a:p>
            <a:r>
              <a:rPr sz="2900" b="1">
                <a:solidFill>
                  <a:srgbClr val="1F3864"/>
                </a:solidFill>
              </a:rPr>
              <a:t>install-zeus-module.sh --slot : Immutable Kurulum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6035040" cy="2651760"/>
          </a:xfrm>
          <a:prstGeom prst="roundRect">
            <a:avLst/>
          </a:prstGeom>
          <a:solidFill>
            <a:srgbClr val="282C34"/>
          </a:solidFill>
          <a:ln w="15875">
            <a:solidFill>
              <a:srgbClr val="1A1D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93776" y="1682496"/>
            <a:ext cx="5961888" cy="310896"/>
          </a:xfrm>
          <a:prstGeom prst="roundRect">
            <a:avLst/>
          </a:prstGeom>
          <a:solidFill>
            <a:srgbClr val="3A3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03504" y="1773936"/>
            <a:ext cx="118872" cy="118872"/>
          </a:xfrm>
          <a:prstGeom prst="ellipse">
            <a:avLst/>
          </a:prstGeom>
          <a:solidFill>
            <a:srgbClr val="E0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2" y="1773936"/>
            <a:ext cx="118872" cy="118872"/>
          </a:xfrm>
          <a:prstGeom prst="ellipse">
            <a:avLst/>
          </a:prstGeom>
          <a:solidFill>
            <a:srgbClr val="E0B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1773936"/>
            <a:ext cx="118872" cy="118872"/>
          </a:xfrm>
          <a:prstGeom prst="ellipse">
            <a:avLst/>
          </a:prstGeom>
          <a:solidFill>
            <a:srgbClr val="5FC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691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AA0AA"/>
                </a:solidFill>
                <a:latin typeface="Consolas"/>
              </a:rPr>
              <a:t>platform@zeus-fw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103120"/>
            <a:ext cx="5705856" cy="2084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D8DCE2"/>
                </a:solidFill>
                <a:latin typeface="Consolas"/>
              </a:rPr>
              <a:t>$ ./scripts/install-zeus-module.sh --slot 1.1.1</a:t>
            </a:r>
          </a:p>
          <a:p>
            <a:r>
              <a:rPr sz="1150">
                <a:solidFill>
                  <a:srgbClr val="D8DCE2"/>
                </a:solidFill>
                <a:latin typeface="Consolas"/>
              </a:rPr>
              <a:t>&gt;&gt; 64 jar + Jandex index + module.xml</a:t>
            </a:r>
          </a:p>
          <a:p>
            <a:r>
              <a:rPr sz="1150">
                <a:solidFill>
                  <a:srgbClr val="8ED08E"/>
                </a:solidFill>
                <a:latin typeface="Consolas"/>
              </a:rPr>
              <a:t>✅ com.zeus:1.1.1 kuruldu — RESTART GEREKMEZ</a:t>
            </a:r>
          </a:p>
          <a:p>
            <a:r>
              <a:rPr sz="1150">
                <a:solidFill>
                  <a:srgbClr val="D8DCE2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D8DCE2"/>
                </a:solidFill>
                <a:latin typeface="Consolas"/>
              </a:rPr>
              <a:t>$ ./scripts/install-zeus-module.sh --slot 1.1.1</a:t>
            </a:r>
          </a:p>
          <a:p>
            <a:r>
              <a:rPr sz="1150">
                <a:solidFill>
                  <a:srgbClr val="E88A80"/>
                </a:solidFill>
                <a:latin typeface="Consolas"/>
              </a:rPr>
              <a:t>HATA: slot zaten kurulu — IMMUTABLE (exit 3)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1645920"/>
            <a:ext cx="4846320" cy="2651760"/>
          </a:xfrm>
          <a:prstGeom prst="roundRect">
            <a:avLst/>
          </a:prstGeom>
          <a:solidFill>
            <a:srgbClr val="F4F4F0"/>
          </a:solidFill>
          <a:ln w="1587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tIns="91440"/>
          <a:lstStyle/>
          <a:p>
            <a:pPr algn="ctr"/>
            <a:r>
              <a:rPr sz="1200">
                <a:solidFill>
                  <a:srgbClr val="333333"/>
                </a:solidFill>
                <a:latin typeface="Consolas"/>
              </a:rPr>
              <a:t>modules/com/zeus/</a:t>
            </a:r>
          </a:p>
          <a:p>
            <a:r>
              <a:rPr sz="1200">
                <a:solidFill>
                  <a:srgbClr val="333333"/>
                </a:solidFill>
                <a:latin typeface="Consolas"/>
              </a:rPr>
              <a:t>├─ main/    ← mutable (geriye uyum)</a:t>
            </a:r>
          </a:p>
          <a:p>
            <a:r>
              <a:rPr sz="1200">
                <a:solidFill>
                  <a:srgbClr val="333333"/>
                </a:solidFill>
                <a:latin typeface="Consolas"/>
              </a:rPr>
              <a:t>└─ 1.1.1/   ← 🔒 immutable = BOM release</a:t>
            </a:r>
          </a:p>
          <a:p>
            <a:r>
              <a:rPr sz="1200">
                <a:solidFill>
                  <a:srgbClr val="333333"/>
                </a:solidFill>
                <a:latin typeface="Consolas"/>
              </a:rPr>
              <a:t>   └─ module.xml:</a:t>
            </a:r>
          </a:p>
          <a:p>
            <a:r>
              <a:rPr sz="1200">
                <a:solidFill>
                  <a:srgbClr val="333333"/>
                </a:solidFill>
                <a:latin typeface="Consolas"/>
              </a:rPr>
              <a:t>      &lt;module name="com.zeus:1.1.1"</a:t>
            </a:r>
          </a:p>
          <a:p>
            <a:r>
              <a:rPr sz="1200">
                <a:solidFill>
                  <a:srgbClr val="333333"/>
                </a:solidFill>
                <a:latin typeface="Consolas"/>
              </a:rPr>
              <a:t>              xmlns="urn:jboss:module:1.9"&gt;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663440"/>
            <a:ext cx="11247120" cy="1371600"/>
          </a:xfrm>
          <a:prstGeom prst="roundRect">
            <a:avLst/>
          </a:prstGeom>
          <a:solidFill>
            <a:srgbClr val="FBF3E2"/>
          </a:solidFill>
          <a:ln w="15875">
            <a:solidFill>
              <a:srgbClr val="B07D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B07D22"/>
                </a:solidFill>
              </a:rPr>
              <a:t>⚠ Pilot bulgusu: module.xml şema 1.6+'da 'slot' attribute'u YOK</a:t>
            </a:r>
          </a:p>
          <a:p>
            <a:pPr algn="ctr"/>
            <a:r>
              <a:rPr sz="1200">
                <a:solidFill>
                  <a:srgbClr val="262626"/>
                </a:solidFill>
                <a:latin typeface="Consolas"/>
              </a:rPr>
              <a:t>slot="..." yazılırsa: XmlPullParserException — slot, name içine iki noktayla yazılır: name="com.zeus:1.1.1"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5A5A5A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5EAA"/>
                </a:solidFill>
              </a:rPr>
              <a:t>UYGULANDI</a:t>
            </a:r>
          </a:p>
          <a:p>
            <a:r>
              <a:rPr sz="2900" b="1">
                <a:solidFill>
                  <a:srgbClr val="1F3864"/>
                </a:solidFill>
              </a:rPr>
              <a:t>Deploy Guard: Üç Kademeli Koruma</a:t>
            </a:r>
          </a:p>
        </p:txBody>
      </p:sp>
      <p:sp>
        <p:nvSpPr>
          <p:cNvPr id="4" name="Chevron 3"/>
          <p:cNvSpPr/>
          <p:nvPr/>
        </p:nvSpPr>
        <p:spPr>
          <a:xfrm>
            <a:off x="365760" y="2103120"/>
            <a:ext cx="2514600" cy="1143000"/>
          </a:xfrm>
          <a:prstGeom prst="chevron">
            <a:avLst/>
          </a:prstGeom>
          <a:solidFill>
            <a:srgbClr val="EEF2F8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1F3864"/>
                </a:solidFill>
              </a:rPr>
              <a:t>WAR build</a:t>
            </a:r>
          </a:p>
        </p:txBody>
      </p:sp>
      <p:sp>
        <p:nvSpPr>
          <p:cNvPr id="5" name="Chevron 4"/>
          <p:cNvSpPr/>
          <p:nvPr/>
        </p:nvSpPr>
        <p:spPr>
          <a:xfrm>
            <a:off x="2670048" y="2103120"/>
            <a:ext cx="2514600" cy="1143000"/>
          </a:xfrm>
          <a:prstGeom prst="chevron">
            <a:avLst/>
          </a:prstGeom>
          <a:solidFill>
            <a:srgbClr val="FBF3E2"/>
          </a:solidFill>
          <a:ln w="15875">
            <a:solidFill>
              <a:srgbClr val="B07D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B07D22"/>
                </a:solidFill>
              </a:rPr>
              <a:t>G1  descriptor üretilmiş mi?</a:t>
            </a:r>
          </a:p>
        </p:txBody>
      </p:sp>
      <p:sp>
        <p:nvSpPr>
          <p:cNvPr id="6" name="Chevron 5"/>
          <p:cNvSpPr/>
          <p:nvPr/>
        </p:nvSpPr>
        <p:spPr>
          <a:xfrm>
            <a:off x="4974336" y="2103120"/>
            <a:ext cx="2514600" cy="1143000"/>
          </a:xfrm>
          <a:prstGeom prst="chevron">
            <a:avLst/>
          </a:prstGeom>
          <a:solidFill>
            <a:srgbClr val="FBF3E2"/>
          </a:solidFill>
          <a:ln w="15875">
            <a:solidFill>
              <a:srgbClr val="B07D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B07D22"/>
                </a:solidFill>
              </a:rPr>
              <a:t>G2  slot sunucuda kurulu mu?</a:t>
            </a:r>
          </a:p>
        </p:txBody>
      </p:sp>
      <p:sp>
        <p:nvSpPr>
          <p:cNvPr id="7" name="Chevron 6"/>
          <p:cNvSpPr/>
          <p:nvPr/>
        </p:nvSpPr>
        <p:spPr>
          <a:xfrm>
            <a:off x="7278623" y="2103120"/>
            <a:ext cx="2514600" cy="1143000"/>
          </a:xfrm>
          <a:prstGeom prst="chevron">
            <a:avLst/>
          </a:prstGeom>
          <a:solidFill>
            <a:srgbClr val="FBF3E2"/>
          </a:solidFill>
          <a:ln w="15875">
            <a:solidFill>
              <a:srgbClr val="B07D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B07D22"/>
                </a:solidFill>
              </a:rPr>
              <a:t>G3  bağımlılıklar slot kapsamında mı?</a:t>
            </a:r>
          </a:p>
        </p:txBody>
      </p:sp>
      <p:sp>
        <p:nvSpPr>
          <p:cNvPr id="8" name="Chevron 7"/>
          <p:cNvSpPr/>
          <p:nvPr/>
        </p:nvSpPr>
        <p:spPr>
          <a:xfrm>
            <a:off x="9582911" y="2103120"/>
            <a:ext cx="2514600" cy="1143000"/>
          </a:xfrm>
          <a:prstGeom prst="chevron">
            <a:avLst/>
          </a:prstGeom>
          <a:solidFill>
            <a:srgbClr val="EAF3EA"/>
          </a:solidFill>
          <a:ln w="15875">
            <a:solidFill>
              <a:srgbClr val="3E7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3E7B3E"/>
                </a:solidFill>
              </a:rPr>
              <a:t>WildFly deploy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58768" y="3246120"/>
            <a:ext cx="0" cy="640080"/>
          </a:xfrm>
          <a:prstGeom prst="line">
            <a:avLst/>
          </a:prstGeom>
          <a:ln w="22225">
            <a:solidFill>
              <a:srgbClr val="B040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624328" y="3886200"/>
            <a:ext cx="2377440" cy="1143000"/>
          </a:xfrm>
          <a:prstGeom prst="roundRect">
            <a:avLst/>
          </a:prstGeom>
          <a:solidFill>
            <a:srgbClr val="F9ECEA"/>
          </a:solidFill>
          <a:ln w="15875">
            <a:solidFill>
              <a:srgbClr val="B04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>
                <a:solidFill>
                  <a:srgbClr val="B0403A"/>
                </a:solidFill>
              </a:rPr>
              <a:t>⛔ DUR: src/main/webapp yok</a:t>
            </a:r>
          </a:p>
          <a:p>
            <a:pPr algn="ctr"/>
            <a:r>
              <a:rPr sz="950">
                <a:solidFill>
                  <a:srgbClr val="262626"/>
                </a:solidFill>
              </a:rPr>
              <a:t>→ .gitkeep ile oluştur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63056" y="3246120"/>
            <a:ext cx="0" cy="640080"/>
          </a:xfrm>
          <a:prstGeom prst="line">
            <a:avLst/>
          </a:prstGeom>
          <a:ln w="22225">
            <a:solidFill>
              <a:srgbClr val="B040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928616" y="3886200"/>
            <a:ext cx="2377440" cy="1143000"/>
          </a:xfrm>
          <a:prstGeom prst="roundRect">
            <a:avLst/>
          </a:prstGeom>
          <a:solidFill>
            <a:srgbClr val="F9ECEA"/>
          </a:solidFill>
          <a:ln w="15875">
            <a:solidFill>
              <a:srgbClr val="B04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>
                <a:solidFill>
                  <a:srgbClr val="B0403A"/>
                </a:solidFill>
              </a:rPr>
              <a:t>⛔ DUR: install --slot X ile kur</a:t>
            </a:r>
          </a:p>
          <a:p>
            <a:pPr algn="ctr"/>
            <a:r>
              <a:rPr sz="950">
                <a:solidFill>
                  <a:srgbClr val="262626"/>
                </a:solidFill>
              </a:rPr>
              <a:t>(restart gerekmez)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467344" y="3246120"/>
            <a:ext cx="0" cy="640080"/>
          </a:xfrm>
          <a:prstGeom prst="line">
            <a:avLst/>
          </a:prstGeom>
          <a:ln w="22225">
            <a:solidFill>
              <a:srgbClr val="B040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232904" y="3886200"/>
            <a:ext cx="2377440" cy="1143000"/>
          </a:xfrm>
          <a:prstGeom prst="roundRect">
            <a:avLst/>
          </a:prstGeom>
          <a:solidFill>
            <a:srgbClr val="F9ECEA"/>
          </a:solidFill>
          <a:ln w="15875">
            <a:solidFill>
              <a:srgbClr val="B04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>
                <a:solidFill>
                  <a:srgbClr val="B0403A"/>
                </a:solidFill>
              </a:rPr>
              <a:t>⛔ DUR: zeus-wildfly-module'e ekle</a:t>
            </a:r>
          </a:p>
          <a:p>
            <a:pPr algn="ctr"/>
            <a:r>
              <a:rPr sz="950">
                <a:solidFill>
                  <a:srgbClr val="262626"/>
                </a:solidFill>
              </a:rPr>
              <a:t>veya zeus.war.keep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5778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</a:rPr>
              <a:t>Hepsi verify-module-coverage.sh içinde; her app'in deploy.sh'ı WAR'ı kopyalamadan önce çağırır — kriptik açılış hatası yerine erken ve çözümü söyleyen hata.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5A5A5A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5EAA"/>
                </a:solidFill>
              </a:rPr>
              <a:t>AKIŞ</a:t>
            </a:r>
          </a:p>
          <a:p>
            <a:r>
              <a:rPr sz="2900" b="1">
                <a:solidFill>
                  <a:srgbClr val="1F3864"/>
                </a:solidFill>
              </a:rPr>
              <a:t>CVE Rollout: Restart'sız, Kademeli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5820" y="2011680"/>
            <a:ext cx="0" cy="411480"/>
          </a:xfrm>
          <a:prstGeom prst="line">
            <a:avLst/>
          </a:prstGeom>
          <a:ln w="15875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34440" y="1572768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864"/>
                </a:solidFill>
              </a:rPr>
              <a:t>BOM override + release  —  </a:t>
            </a:r>
            <a:r>
              <a:rPr sz="1350">
                <a:solidFill>
                  <a:srgbClr val="262626"/>
                </a:solidFill>
                <a:latin typeface="Consolas"/>
              </a:rPr>
              <a:t>zeus 1.1.1; parent slot'u sabitler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423160"/>
            <a:ext cx="411480" cy="41148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5820" y="2834640"/>
            <a:ext cx="0" cy="411480"/>
          </a:xfrm>
          <a:prstGeom prst="line">
            <a:avLst/>
          </a:prstGeom>
          <a:ln w="15875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34440" y="2395728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864"/>
                </a:solidFill>
              </a:rPr>
              <a:t>Staging gate  —  </a:t>
            </a:r>
            <a:r>
              <a:rPr sz="1350">
                <a:solidFill>
                  <a:srgbClr val="262626"/>
                </a:solidFill>
                <a:latin typeface="Consolas"/>
              </a:rPr>
              <a:t>SLOT=1.1.1 verify-staging.sh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246120"/>
            <a:ext cx="411480" cy="411480"/>
          </a:xfrm>
          <a:prstGeom prst="ellipse">
            <a:avLst/>
          </a:prstGeom>
          <a:solidFill>
            <a:srgbClr val="3E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45820" y="3657600"/>
            <a:ext cx="0" cy="411480"/>
          </a:xfrm>
          <a:prstGeom prst="line">
            <a:avLst/>
          </a:prstGeom>
          <a:ln w="15875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234440" y="3218688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E7B3E"/>
                </a:solidFill>
              </a:rPr>
              <a:t>Prod'a slot kur  —  </a:t>
            </a:r>
            <a:r>
              <a:rPr sz="1350">
                <a:solidFill>
                  <a:srgbClr val="262626"/>
                </a:solidFill>
                <a:latin typeface="Consolas"/>
              </a:rPr>
              <a:t>install --slot 1.1.1 → 0 restart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069080"/>
            <a:ext cx="411480" cy="411480"/>
          </a:xfrm>
          <a:prstGeom prst="ellipse">
            <a:avLst/>
          </a:prstGeom>
          <a:solidFill>
            <a:srgbClr val="3E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45820" y="4480560"/>
            <a:ext cx="0" cy="411480"/>
          </a:xfrm>
          <a:prstGeom prst="line">
            <a:avLst/>
          </a:prstGeom>
          <a:ln w="15875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234440" y="4041648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E7B3E"/>
                </a:solidFill>
              </a:rPr>
              <a:t>App'ler kademeli geçer  —  </a:t>
            </a:r>
            <a:r>
              <a:rPr sz="1350">
                <a:solidFill>
                  <a:srgbClr val="262626"/>
                </a:solidFill>
                <a:latin typeface="Consolas"/>
              </a:rPr>
              <a:t>parent bump + redeploy (saniyeler)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892040"/>
            <a:ext cx="411480" cy="411480"/>
          </a:xfrm>
          <a:prstGeom prst="ellipse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45820" y="5303520"/>
            <a:ext cx="0" cy="411480"/>
          </a:xfrm>
          <a:prstGeom prst="line">
            <a:avLst/>
          </a:prstGeom>
          <a:ln w="15875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234440" y="4864608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E5EAA"/>
                </a:solidFill>
              </a:rPr>
              <a:t>Rollback (gerekirse)  —  </a:t>
            </a:r>
            <a:r>
              <a:rPr sz="1350">
                <a:solidFill>
                  <a:srgbClr val="262626"/>
                </a:solidFill>
                <a:latin typeface="Consolas"/>
              </a:rPr>
              <a:t>parent geri al + redeploy — app bazında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5715000"/>
            <a:ext cx="411480" cy="41148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5687568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864"/>
                </a:solidFill>
              </a:rPr>
              <a:t>Kapanış  —  </a:t>
            </a:r>
            <a:r>
              <a:rPr sz="1350">
                <a:solidFill>
                  <a:srgbClr val="262626"/>
                </a:solidFill>
                <a:latin typeface="Consolas"/>
              </a:rPr>
              <a:t>envanter 'kullanan yok' → eski slot sil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5A5A5A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5EAA"/>
                </a:solidFill>
              </a:rPr>
              <a:t>UYGULANDI</a:t>
            </a:r>
          </a:p>
          <a:p>
            <a:r>
              <a:rPr sz="2900" b="1">
                <a:solidFill>
                  <a:srgbClr val="1F3864"/>
                </a:solidFill>
              </a:rPr>
              <a:t>Staging Gate: main Akışı vs SLOT Akışı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916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2626"/>
                </a:solidFill>
              </a:rPr>
              <a:t>main akışı</a:t>
            </a:r>
          </a:p>
        </p:txBody>
      </p:sp>
      <p:sp>
        <p:nvSpPr>
          <p:cNvPr id="5" name="Chevron 4"/>
          <p:cNvSpPr/>
          <p:nvPr/>
        </p:nvSpPr>
        <p:spPr>
          <a:xfrm>
            <a:off x="2103120" y="1508760"/>
            <a:ext cx="1691640" cy="868680"/>
          </a:xfrm>
          <a:prstGeom prst="chevron">
            <a:avLst/>
          </a:prstGeom>
          <a:solidFill>
            <a:srgbClr val="EEF2F8"/>
          </a:solidFill>
          <a:ln w="15875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262626"/>
                </a:solidFill>
              </a:rPr>
              <a:t>yedekle</a:t>
            </a:r>
          </a:p>
        </p:txBody>
      </p:sp>
      <p:sp>
        <p:nvSpPr>
          <p:cNvPr id="6" name="Chevron 5"/>
          <p:cNvSpPr/>
          <p:nvPr/>
        </p:nvSpPr>
        <p:spPr>
          <a:xfrm>
            <a:off x="3675887" y="1508760"/>
            <a:ext cx="1691640" cy="868680"/>
          </a:xfrm>
          <a:prstGeom prst="chevron">
            <a:avLst/>
          </a:prstGeom>
          <a:solidFill>
            <a:srgbClr val="EEF2F8"/>
          </a:solidFill>
          <a:ln w="15875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262626"/>
                </a:solidFill>
              </a:rPr>
              <a:t>main'i üret</a:t>
            </a:r>
          </a:p>
        </p:txBody>
      </p:sp>
      <p:sp>
        <p:nvSpPr>
          <p:cNvPr id="7" name="Chevron 6"/>
          <p:cNvSpPr/>
          <p:nvPr/>
        </p:nvSpPr>
        <p:spPr>
          <a:xfrm>
            <a:off x="5248655" y="1508760"/>
            <a:ext cx="1691640" cy="868680"/>
          </a:xfrm>
          <a:prstGeom prst="chevron">
            <a:avLst/>
          </a:prstGeom>
          <a:solidFill>
            <a:srgbClr val="F9ECEA"/>
          </a:solidFill>
          <a:ln w="15875">
            <a:solidFill>
              <a:srgbClr val="B04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B0403A"/>
                </a:solidFill>
              </a:rPr>
              <a:t>RESTART ⚡</a:t>
            </a:r>
          </a:p>
        </p:txBody>
      </p:sp>
      <p:sp>
        <p:nvSpPr>
          <p:cNvPr id="8" name="Chevron 7"/>
          <p:cNvSpPr/>
          <p:nvPr/>
        </p:nvSpPr>
        <p:spPr>
          <a:xfrm>
            <a:off x="6821423" y="1508760"/>
            <a:ext cx="1691640" cy="868680"/>
          </a:xfrm>
          <a:prstGeom prst="chevron">
            <a:avLst/>
          </a:prstGeom>
          <a:solidFill>
            <a:srgbClr val="EEF2F8"/>
          </a:solidFill>
          <a:ln w="15875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262626"/>
                </a:solidFill>
              </a:rPr>
              <a:t>deploy</a:t>
            </a:r>
          </a:p>
        </p:txBody>
      </p:sp>
      <p:sp>
        <p:nvSpPr>
          <p:cNvPr id="9" name="Chevron 8"/>
          <p:cNvSpPr/>
          <p:nvPr/>
        </p:nvSpPr>
        <p:spPr>
          <a:xfrm>
            <a:off x="8394192" y="1508760"/>
            <a:ext cx="1691640" cy="868680"/>
          </a:xfrm>
          <a:prstGeom prst="chevron">
            <a:avLst/>
          </a:prstGeom>
          <a:solidFill>
            <a:srgbClr val="EEF2F8"/>
          </a:solidFill>
          <a:ln w="15875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262626"/>
                </a:solidFill>
              </a:rPr>
              <a:t>smoke</a:t>
            </a:r>
          </a:p>
        </p:txBody>
      </p:sp>
      <p:sp>
        <p:nvSpPr>
          <p:cNvPr id="10" name="Chevron 9"/>
          <p:cNvSpPr/>
          <p:nvPr/>
        </p:nvSpPr>
        <p:spPr>
          <a:xfrm>
            <a:off x="9966960" y="1508760"/>
            <a:ext cx="1691640" cy="868680"/>
          </a:xfrm>
          <a:prstGeom prst="chevron">
            <a:avLst/>
          </a:prstGeom>
          <a:solidFill>
            <a:srgbClr val="EEF2F8"/>
          </a:solidFill>
          <a:ln w="15875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262626"/>
                </a:solidFill>
              </a:rPr>
              <a:t>promote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468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403A"/>
                </a:solidFill>
              </a:rPr>
              <a:t>her yamada tüm sunucuya kesinti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8862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E7B3E"/>
                </a:solidFill>
              </a:rPr>
              <a:t>SLOT akışı (yeni)</a:t>
            </a:r>
          </a:p>
        </p:txBody>
      </p:sp>
      <p:sp>
        <p:nvSpPr>
          <p:cNvPr id="13" name="Chevron 12"/>
          <p:cNvSpPr/>
          <p:nvPr/>
        </p:nvSpPr>
        <p:spPr>
          <a:xfrm>
            <a:off x="2103120" y="3703320"/>
            <a:ext cx="1691640" cy="868680"/>
          </a:xfrm>
          <a:prstGeom prst="chevron">
            <a:avLst/>
          </a:prstGeom>
          <a:solidFill>
            <a:srgbClr val="EAF3EA"/>
          </a:solidFill>
          <a:ln w="15875">
            <a:solidFill>
              <a:srgbClr val="3E7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3E7B3E"/>
                </a:solidFill>
              </a:rPr>
              <a:t>slot kur 🔒</a:t>
            </a:r>
          </a:p>
        </p:txBody>
      </p:sp>
      <p:sp>
        <p:nvSpPr>
          <p:cNvPr id="14" name="Chevron 13"/>
          <p:cNvSpPr/>
          <p:nvPr/>
        </p:nvSpPr>
        <p:spPr>
          <a:xfrm>
            <a:off x="3675887" y="3703320"/>
            <a:ext cx="1691640" cy="868680"/>
          </a:xfrm>
          <a:prstGeom prst="chevron">
            <a:avLst/>
          </a:prstGeom>
          <a:solidFill>
            <a:srgbClr val="EAF3EA"/>
          </a:solidFill>
          <a:ln w="15875">
            <a:solidFill>
              <a:srgbClr val="3E7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3E7B3E"/>
                </a:solidFill>
              </a:rPr>
              <a:t>restart YOK</a:t>
            </a:r>
          </a:p>
        </p:txBody>
      </p:sp>
      <p:sp>
        <p:nvSpPr>
          <p:cNvPr id="15" name="Chevron 14"/>
          <p:cNvSpPr/>
          <p:nvPr/>
        </p:nvSpPr>
        <p:spPr>
          <a:xfrm>
            <a:off x="5248655" y="3703320"/>
            <a:ext cx="1691640" cy="868680"/>
          </a:xfrm>
          <a:prstGeom prst="chevron">
            <a:avLst/>
          </a:prstGeom>
          <a:solidFill>
            <a:srgbClr val="EEF2F8"/>
          </a:solidFill>
          <a:ln w="15875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262626"/>
                </a:solidFill>
              </a:rPr>
              <a:t>deploy</a:t>
            </a:r>
          </a:p>
        </p:txBody>
      </p:sp>
      <p:sp>
        <p:nvSpPr>
          <p:cNvPr id="16" name="Chevron 15"/>
          <p:cNvSpPr/>
          <p:nvPr/>
        </p:nvSpPr>
        <p:spPr>
          <a:xfrm>
            <a:off x="6821423" y="3703320"/>
            <a:ext cx="1691640" cy="868680"/>
          </a:xfrm>
          <a:prstGeom prst="chevron">
            <a:avLst/>
          </a:prstGeom>
          <a:solidFill>
            <a:srgbClr val="FBF3E2"/>
          </a:solidFill>
          <a:ln w="15875">
            <a:solidFill>
              <a:srgbClr val="B07D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B07D22"/>
                </a:solidFill>
              </a:rPr>
              <a:t>slot-hedef ✓</a:t>
            </a:r>
          </a:p>
        </p:txBody>
      </p:sp>
      <p:sp>
        <p:nvSpPr>
          <p:cNvPr id="17" name="Chevron 16"/>
          <p:cNvSpPr/>
          <p:nvPr/>
        </p:nvSpPr>
        <p:spPr>
          <a:xfrm>
            <a:off x="8394192" y="3703320"/>
            <a:ext cx="1691640" cy="868680"/>
          </a:xfrm>
          <a:prstGeom prst="chevron">
            <a:avLst/>
          </a:prstGeom>
          <a:solidFill>
            <a:srgbClr val="EEF2F8"/>
          </a:solidFill>
          <a:ln w="15875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262626"/>
                </a:solidFill>
              </a:rPr>
              <a:t>smoke</a:t>
            </a:r>
          </a:p>
        </p:txBody>
      </p:sp>
      <p:sp>
        <p:nvSpPr>
          <p:cNvPr id="18" name="Chevron 17"/>
          <p:cNvSpPr/>
          <p:nvPr/>
        </p:nvSpPr>
        <p:spPr>
          <a:xfrm>
            <a:off x="9966960" y="3703320"/>
            <a:ext cx="1691640" cy="868680"/>
          </a:xfrm>
          <a:prstGeom prst="chevron">
            <a:avLst/>
          </a:prstGeom>
          <a:solidFill>
            <a:srgbClr val="EAF3EA"/>
          </a:solidFill>
          <a:ln w="15875">
            <a:solidFill>
              <a:srgbClr val="3E7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3E7B3E"/>
                </a:solidFill>
              </a:rPr>
              <a:t>promote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663440"/>
            <a:ext cx="9509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E7B3E"/>
                </a:solidFill>
              </a:rPr>
              <a:t>sunucu ayaktaysa dokunulmaz — kesintisiz doğrulama; slot-hedef ✓: eski parent'la build edilmiş app gate'i yanıltamaz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440680"/>
            <a:ext cx="11247120" cy="1051560"/>
          </a:xfrm>
          <a:prstGeom prst="roundRect">
            <a:avLst/>
          </a:prstGeom>
          <a:solidFill>
            <a:srgbClr val="282C34"/>
          </a:solidFill>
          <a:ln w="15875">
            <a:solidFill>
              <a:srgbClr val="1A1D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93776" y="5477256"/>
            <a:ext cx="11173968" cy="310896"/>
          </a:xfrm>
          <a:prstGeom prst="roundRect">
            <a:avLst/>
          </a:prstGeom>
          <a:solidFill>
            <a:srgbClr val="3A3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03504" y="5568696"/>
            <a:ext cx="118872" cy="118872"/>
          </a:xfrm>
          <a:prstGeom prst="ellipse">
            <a:avLst/>
          </a:prstGeom>
          <a:solidFill>
            <a:srgbClr val="E0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4672" y="5568696"/>
            <a:ext cx="118872" cy="118872"/>
          </a:xfrm>
          <a:prstGeom prst="ellipse">
            <a:avLst/>
          </a:prstGeom>
          <a:solidFill>
            <a:srgbClr val="E0B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05840" y="5568696"/>
            <a:ext cx="118872" cy="118872"/>
          </a:xfrm>
          <a:prstGeom prst="ellipse">
            <a:avLst/>
          </a:prstGeom>
          <a:solidFill>
            <a:srgbClr val="5FC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5486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AA0AA"/>
                </a:solidFill>
                <a:latin typeface="Consolas"/>
              </a:rPr>
              <a:t>platform@zeus-fw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5897880"/>
            <a:ext cx="10917936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D8DCE2"/>
                </a:solidFill>
                <a:latin typeface="Consolas"/>
              </a:rPr>
              <a:t>$ SLOT=1.1.1 WILDFLY_HOME=/path/staging ./scripts/verify-staging.sh &lt;app&gt; [...]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5A5A5A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5EAA"/>
                </a:solidFill>
              </a:rPr>
              <a:t>UYGULANDI</a:t>
            </a:r>
          </a:p>
          <a:p>
            <a:r>
              <a:rPr sz="2900" b="1">
                <a:solidFill>
                  <a:srgbClr val="1F3864"/>
                </a:solidFill>
              </a:rPr>
              <a:t>slot-inventory.sh: Envanter + Politika Denetimi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6035040" cy="3657600"/>
          </a:xfrm>
          <a:prstGeom prst="roundRect">
            <a:avLst/>
          </a:prstGeom>
          <a:solidFill>
            <a:srgbClr val="282C34"/>
          </a:solidFill>
          <a:ln w="15875">
            <a:solidFill>
              <a:srgbClr val="1A1D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93776" y="1682496"/>
            <a:ext cx="5961888" cy="310896"/>
          </a:xfrm>
          <a:prstGeom prst="roundRect">
            <a:avLst/>
          </a:prstGeom>
          <a:solidFill>
            <a:srgbClr val="3A3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03504" y="1773936"/>
            <a:ext cx="118872" cy="118872"/>
          </a:xfrm>
          <a:prstGeom prst="ellipse">
            <a:avLst/>
          </a:prstGeom>
          <a:solidFill>
            <a:srgbClr val="E05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2" y="1773936"/>
            <a:ext cx="118872" cy="118872"/>
          </a:xfrm>
          <a:prstGeom prst="ellipse">
            <a:avLst/>
          </a:prstGeom>
          <a:solidFill>
            <a:srgbClr val="E0B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1773936"/>
            <a:ext cx="118872" cy="118872"/>
          </a:xfrm>
          <a:prstGeom prst="ellipse">
            <a:avLst/>
          </a:prstGeom>
          <a:solidFill>
            <a:srgbClr val="5FC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691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AA0AA"/>
                </a:solidFill>
                <a:latin typeface="Consolas"/>
              </a:rPr>
              <a:t>platform@zeus-fw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103120"/>
            <a:ext cx="5705856" cy="3090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D8DCE2"/>
                </a:solidFill>
                <a:latin typeface="Consolas"/>
              </a:rPr>
              <a:t>$ ./scripts/slot-inventory.sh</a:t>
            </a:r>
          </a:p>
          <a:p>
            <a:r>
              <a:rPr sz="1150">
                <a:solidFill>
                  <a:srgbClr val="D8DCE2"/>
                </a:solidFill>
                <a:latin typeface="Consolas"/>
              </a:rPr>
              <a:t>Kurulu slot'lar:</a:t>
            </a:r>
          </a:p>
          <a:p>
            <a:r>
              <a:rPr sz="1150">
                <a:solidFill>
                  <a:srgbClr val="D8DCE2"/>
                </a:solidFill>
                <a:latin typeface="Consolas"/>
              </a:rPr>
              <a:t>  com.zeus:1.1.1  64 jar 48M  app: 3</a:t>
            </a:r>
          </a:p>
          <a:p>
            <a:r>
              <a:rPr sz="1150">
                <a:solidFill>
                  <a:srgbClr val="D8DCE2"/>
                </a:solidFill>
                <a:latin typeface="Consolas"/>
              </a:rPr>
              <a:t>  com.zeus:main   64 jar 48M  app: 1</a:t>
            </a:r>
          </a:p>
          <a:p>
            <a:r>
              <a:rPr sz="1150">
                <a:solidFill>
                  <a:srgbClr val="D8DCE2"/>
                </a:solidFill>
                <a:latin typeface="Consolas"/>
              </a:rPr>
              <a:t>Deploy edilmiş uygulamalar:</a:t>
            </a:r>
          </a:p>
          <a:p>
            <a:r>
              <a:rPr sz="1150">
                <a:solidFill>
                  <a:srgbClr val="D8DCE2"/>
                </a:solidFill>
                <a:latin typeface="Consolas"/>
              </a:rPr>
              <a:t>  app-1.war → com.zeus:1.1.1 [deployed]</a:t>
            </a:r>
          </a:p>
          <a:p>
            <a:r>
              <a:rPr sz="1150">
                <a:solidFill>
                  <a:srgbClr val="D8DCE2"/>
                </a:solidFill>
                <a:latin typeface="Consolas"/>
              </a:rPr>
              <a:t>  app-4.war → com.zeus:main  [deployed]</a:t>
            </a:r>
          </a:p>
          <a:p>
            <a:r>
              <a:rPr sz="1150">
                <a:solidFill>
                  <a:srgbClr val="D8DCE2"/>
                </a:solidFill>
                <a:latin typeface="Consolas"/>
              </a:rPr>
              <a:t>Denetimler:</a:t>
            </a:r>
          </a:p>
          <a:p>
            <a:r>
              <a:rPr sz="1150">
                <a:solidFill>
                  <a:srgbClr val="8ED08E"/>
                </a:solidFill>
                <a:latin typeface="Consolas"/>
              </a:rPr>
              <a:t>  ✅ Politika ihlali yok.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1691640"/>
            <a:ext cx="4937760" cy="1051560"/>
          </a:xfrm>
          <a:prstGeom prst="roundRect">
            <a:avLst/>
          </a:prstGeom>
          <a:solidFill>
            <a:srgbClr val="F9ECEA"/>
          </a:solidFill>
          <a:ln w="15875">
            <a:solidFill>
              <a:srgbClr val="B04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>
                <a:solidFill>
                  <a:srgbClr val="B0403A"/>
                </a:solidFill>
              </a:rPr>
              <a:t>❌  kurulu olmayan slot'a işaret</a:t>
            </a:r>
          </a:p>
          <a:p>
            <a:pPr algn="ctr"/>
            <a:r>
              <a:rPr sz="1050">
                <a:solidFill>
                  <a:srgbClr val="262626"/>
                </a:solidFill>
              </a:rPr>
              <a:t>exit 2 — app açılışta kırılır; çözüm komutu yazılır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2971800"/>
            <a:ext cx="4937760" cy="1051560"/>
          </a:xfrm>
          <a:prstGeom prst="roundRect">
            <a:avLst/>
          </a:prstGeom>
          <a:solidFill>
            <a:srgbClr val="FBF3E2"/>
          </a:solidFill>
          <a:ln w="15875">
            <a:solidFill>
              <a:srgbClr val="B07D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>
                <a:solidFill>
                  <a:srgbClr val="B07D22"/>
                </a:solidFill>
              </a:rPr>
              <a:t>⚠  2'den fazla slot kurulu</a:t>
            </a:r>
          </a:p>
          <a:p>
            <a:pPr algn="ctr"/>
            <a:r>
              <a:rPr sz="1050">
                <a:solidFill>
                  <a:srgbClr val="262626"/>
                </a:solidFill>
              </a:rPr>
              <a:t>exit 1 — max-2-aktif-slot politikası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0" y="4251960"/>
            <a:ext cx="4937760" cy="1051560"/>
          </a:xfrm>
          <a:prstGeom prst="roundRect">
            <a:avLst/>
          </a:prstGeom>
          <a:solidFill>
            <a:srgbClr val="EAF3EA"/>
          </a:solidFill>
          <a:ln w="15875">
            <a:solidFill>
              <a:srgbClr val="3E7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>
                <a:solidFill>
                  <a:srgbClr val="3E7B3E"/>
                </a:solidFill>
              </a:rPr>
              <a:t>♻  kullanan app'i olmayan slot</a:t>
            </a:r>
          </a:p>
          <a:p>
            <a:pPr algn="ctr"/>
            <a:r>
              <a:rPr sz="1050">
                <a:solidFill>
                  <a:srgbClr val="262626"/>
                </a:solidFill>
              </a:rPr>
              <a:t>silinebilir aday — silme restart penceresinde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</a:rPr>
              <a:t>CVE kapanış takibi buradan: envanter "kullanan yok" deyince eski slot silinir; exit kodları CI'da kapı olur.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5A5A5A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5EAA"/>
                </a:solidFill>
              </a:rPr>
              <a:t>DOĞRULANDI</a:t>
            </a:r>
          </a:p>
          <a:p>
            <a:r>
              <a:rPr sz="2900" b="1">
                <a:solidFill>
                  <a:srgbClr val="1F3864"/>
                </a:solidFill>
              </a:rPr>
              <a:t>Pilot Prova: Gerçek Sunucuda Uçtan Uca (slot 1.0.1-rc1)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09928"/>
            <a:ext cx="457200" cy="457200"/>
          </a:xfrm>
          <a:prstGeom prst="ellipse">
            <a:avLst/>
          </a:prstGeom>
          <a:solidFill>
            <a:srgbClr val="B07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600200"/>
            <a:ext cx="10332720" cy="777240"/>
          </a:xfrm>
          <a:prstGeom prst="roundRect">
            <a:avLst/>
          </a:prstGeom>
          <a:solidFill>
            <a:srgbClr val="FBF3E2"/>
          </a:solidFill>
          <a:ln w="15875">
            <a:solidFill>
              <a:srgbClr val="B07D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262626"/>
                </a:solidFill>
              </a:rPr>
              <a:t>Negatif senaryo  —  parent hâlâ main üretirken SLOT akışı → gate slot uyuşmazlığını yakaladı (beklenen)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79192"/>
            <a:ext cx="457200" cy="457200"/>
          </a:xfrm>
          <a:prstGeom prst="ellipse">
            <a:avLst/>
          </a:prstGeom>
          <a:solidFill>
            <a:srgbClr val="B07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569464"/>
            <a:ext cx="10332720" cy="777240"/>
          </a:xfrm>
          <a:prstGeom prst="roundRect">
            <a:avLst/>
          </a:prstGeom>
          <a:solidFill>
            <a:srgbClr val="FBF3E2"/>
          </a:solidFill>
          <a:ln w="15875">
            <a:solidFill>
              <a:srgbClr val="B07D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262626"/>
                </a:solidFill>
              </a:rPr>
              <a:t>Bulgu + düzeltme  —  module.xml şema 1.9 'slot' attr reddetti → name="com.zeus:&lt;slot&gt;" biçimine geçildi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648456"/>
            <a:ext cx="457200" cy="457200"/>
          </a:xfrm>
          <a:prstGeom prst="ellipse">
            <a:avLst/>
          </a:prstGeom>
          <a:solidFill>
            <a:srgbClr val="3E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3538728"/>
            <a:ext cx="10332720" cy="777240"/>
          </a:xfrm>
          <a:prstGeom prst="roundRect">
            <a:avLst/>
          </a:prstGeom>
          <a:solidFill>
            <a:srgbClr val="EAF3EA"/>
          </a:solidFill>
          <a:ln w="15875">
            <a:solidFill>
              <a:srgbClr val="3E7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262626"/>
                </a:solidFill>
              </a:rPr>
              <a:t>Pozitif senaryo  —  GATE PASSED — app main→rc1 geçti, 0 restart, smoke 9/9, slot'lu promote artifact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617720"/>
            <a:ext cx="457200" cy="457200"/>
          </a:xfrm>
          <a:prstGeom prst="ellipse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4507992"/>
            <a:ext cx="10332720" cy="777240"/>
          </a:xfrm>
          <a:prstGeom prst="roundRect">
            <a:avLst/>
          </a:prstGeom>
          <a:solidFill>
            <a:srgbClr val="EEF2F8"/>
          </a:solidFill>
          <a:ln w="15875">
            <a:solidFill>
              <a:srgbClr val="2E5E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262626"/>
                </a:solidFill>
              </a:rPr>
              <a:t>Rollback provası  —  parent geri alındı + redeploy → app main'e döndü (yine 0 restart)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5586984"/>
            <a:ext cx="457200" cy="457200"/>
          </a:xfrm>
          <a:prstGeom prst="ellipse">
            <a:avLst/>
          </a:prstGeom>
          <a:solidFill>
            <a:srgbClr val="3E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5477256"/>
            <a:ext cx="10332720" cy="777240"/>
          </a:xfrm>
          <a:prstGeom prst="roundRect">
            <a:avLst/>
          </a:prstGeom>
          <a:solidFill>
            <a:srgbClr val="EAF3EA"/>
          </a:solidFill>
          <a:ln w="15875">
            <a:solidFill>
              <a:srgbClr val="3E7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262626"/>
                </a:solidFill>
              </a:rPr>
              <a:t>Kapanış provası  —  envanter rc1'i 'silinebilir aday' gösterdi → silindi → envanter temiz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5A5A5A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5EAA"/>
                </a:solidFill>
              </a:rPr>
              <a:t>SONUÇ</a:t>
            </a:r>
          </a:p>
          <a:p>
            <a:r>
              <a:rPr sz="2900" b="1">
                <a:solidFill>
                  <a:srgbClr val="1F3864"/>
                </a:solidFill>
              </a:rPr>
              <a:t>Kazanımlar ve Kurallar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566160" cy="2377440"/>
          </a:xfrm>
          <a:prstGeom prst="roundRect">
            <a:avLst/>
          </a:prstGeom>
          <a:solidFill>
            <a:srgbClr val="EAF3EA"/>
          </a:solidFill>
          <a:ln w="19050">
            <a:solidFill>
              <a:srgbClr val="3E7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400" b="1">
                <a:solidFill>
                  <a:srgbClr val="3E7B3E"/>
                </a:solidFill>
              </a:rPr>
              <a:t>0</a:t>
            </a:r>
          </a:p>
          <a:p>
            <a:pPr algn="ctr"/>
            <a:r>
              <a:rPr sz="1300">
                <a:solidFill>
                  <a:srgbClr val="262626"/>
                </a:solidFill>
              </a:rPr>
              <a:t>restart — CVE rollout'unda
(yeni slot tembel yüklenir)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828800"/>
            <a:ext cx="3566160" cy="2377440"/>
          </a:xfrm>
          <a:prstGeom prst="roundRect">
            <a:avLst/>
          </a:prstGeom>
          <a:solidFill>
            <a:srgbClr val="EEF2F8"/>
          </a:solidFill>
          <a:ln w="19050">
            <a:solidFill>
              <a:srgbClr val="2E5E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400" b="1">
                <a:solidFill>
                  <a:srgbClr val="2E5EAA"/>
                </a:solidFill>
              </a:rPr>
              <a:t>0</a:t>
            </a:r>
          </a:p>
          <a:p>
            <a:pPr algn="ctr"/>
            <a:r>
              <a:rPr sz="1300">
                <a:solidFill>
                  <a:srgbClr val="262626"/>
                </a:solidFill>
              </a:rPr>
              <a:t>dosya — developer'ın yazdığı
(descriptor build'de üretilir)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828800"/>
            <a:ext cx="3566160" cy="2377440"/>
          </a:xfrm>
          <a:prstGeom prst="roundRect">
            <a:avLst/>
          </a:prstGeom>
          <a:solidFill>
            <a:srgbClr val="EEF2F8"/>
          </a:soli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400" b="1">
                <a:solidFill>
                  <a:srgbClr val="1F3864"/>
                </a:solidFill>
              </a:rPr>
              <a:t>sn</a:t>
            </a:r>
          </a:p>
          <a:p>
            <a:pPr algn="ctr"/>
            <a:r>
              <a:rPr sz="1300">
                <a:solidFill>
                  <a:srgbClr val="262626"/>
                </a:solidFill>
              </a:rPr>
              <a:t>app bazında rollback
(parent geri al + redeploy)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54880"/>
            <a:ext cx="10972800" cy="1280160"/>
          </a:xfrm>
          <a:prstGeom prst="roundRect">
            <a:avLst/>
          </a:prstGeom>
          <a:solidFill>
            <a:srgbClr val="FBF3E2"/>
          </a:solidFill>
          <a:ln w="15875">
            <a:solidFill>
              <a:srgbClr val="B07D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B07D22"/>
                </a:solidFill>
              </a:rPr>
              <a:t>Kural: aynı anda en fazla 2 aktif slot — hedef durum yine TEK slot</a:t>
            </a:r>
          </a:p>
          <a:p>
            <a:pPr algn="ctr"/>
            <a:r>
              <a:rPr sz="1200">
                <a:solidFill>
                  <a:srgbClr val="262626"/>
                </a:solidFill>
              </a:rPr>
              <a:t>slot'lar kalıcı parçalanma değil, geçiş dönemi mekanizması; kapanış envanterle izlenir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5A5A5A"/>
                </a:solidFill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