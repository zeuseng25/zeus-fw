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[KAPAK — ~1,5 dk]  Sunumun tamamı tek bir hikâye; bu slayt hikâyenin sorusunu ortaya koyar.</a:t>
            </a:r>
          </a:p>
          <a:p/>
          <a:p>
            <a:r>
              <a:t>AÇILIŞ (ezberleyin, slayttan okumayın):</a:t>
            </a:r>
          </a:p>
          <a:p>
            <a:r>
              <a:t>"Bugün size bir kütüphane sürümü seçimini anlatacağım. Ama oradan başlarsam kimse neden</a:t>
            </a:r>
          </a:p>
          <a:p>
            <a:r>
              <a:t>önemsesin bilemez. O yüzden hikâyenin başından başlayacağım: chat uygulamasını devreye</a:t>
            </a:r>
          </a:p>
          <a:p>
            <a:r>
              <a:t>aldıktan sonra kullanıcıdan gelen ilk ciddi soruyla."</a:t>
            </a:r>
          </a:p>
          <a:p/>
          <a:p>
            <a:r>
              <a:t>YOL HARİTASINI GÖSTERİN (alttaki dört kutuyu tek tek işaret edin):</a:t>
            </a:r>
          </a:p>
          <a:p>
            <a:r>
              <a:t>"Dört adım: sorun nereden çıktı, çözüm olarak ortaya çıkan ortak dil, bunu kimin ve hangi</a:t>
            </a:r>
          </a:p>
          <a:p>
            <a:r>
              <a:t>dilde yazacağı, ve en sonunda hangi altyapının üstüne kuracağımız."</a:t>
            </a:r>
          </a:p>
          <a:p/>
          <a:p>
            <a:r>
              <a:t>NEDEN BU SIRA (kendinize not): Dinleyici MCP'yi bilmiyor. 1.x/2.x farkını en başta anlatsak</a:t>
            </a:r>
          </a:p>
          <a:p>
            <a:r>
              <a:t>soyut kalırdı. Farkı anlamlı kılan şey, ondan önce verdiğimiz iki sözdür — bu yüzden karar</a:t>
            </a:r>
          </a:p>
          <a:p>
            <a:r>
              <a:t>slaydı sona bırakıldı. Sırayı bozmayın.</a:t>
            </a:r>
          </a:p>
          <a:p/>
          <a:p>
            <a:r>
              <a:t>SÜRE: kapak 1,5 dk · ① 3 dk · ② 3,5 dk · ③ 3,5 dk · ④ 3 dk · kapanış 1,5 dk ≈ 16 dk.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[① SORUN — ~3 dk]  Amaç: MCP'yi henüz telaffuz etmeden, ona olan İHTİYACI kurmak.</a:t>
            </a:r>
          </a:p>
          <a:p/>
          <a:p>
            <a:r>
              <a:t>ANLATIM — üç kartı sırayla, hikâye anlatır gibi:</a:t>
            </a:r>
          </a:p>
          <a:p>
            <a:r>
              <a:t>1) "Chat uygulamasını açtık, iyi de gitti. Metin yazıyor, özetliyor."</a:t>
            </a:r>
          </a:p>
          <a:p>
            <a:r>
              <a:t>2) "Sonra şu soru geldi — ve bu soru bu sunumun sebebi:</a:t>
            </a:r>
          </a:p>
          <a:p>
            <a:r>
              <a:t>    'Bu asistan benim müşterimin kredi başvurusu ne durumda söyleyemiyor mu?'</a:t>
            </a:r>
          </a:p>
          <a:p>
            <a:r>
              <a:t>    Cevap: hayır. Çünkü model dünyayı biliyor ama BİZİ bilmiyor."</a:t>
            </a:r>
          </a:p>
          <a:p>
            <a:r>
              <a:t>3) "İlk refleksimiz doğaldı: o zaman bağlayalım. Her uygulama için özel bir bağlantı yazalım."</a:t>
            </a:r>
          </a:p>
          <a:p/>
          <a:p>
            <a:r>
              <a:t>BURADA DURUN — asıl mesaj tıkanma kutusunda:</a:t>
            </a:r>
          </a:p>
          <a:p>
            <a:r>
              <a:t>"Her yeni yetenek ayrı bir proje oldu. Daha kötüsü: yetki mantığını her entegrasyonda yeniden</a:t>
            </a:r>
          </a:p>
          <a:p>
            <a:r>
              <a:t>yazıyorduk. Ve ikinci bir asistan arayüzü eklendiğinde her şey baştan tekrarlanacaktı."</a:t>
            </a:r>
          </a:p>
          <a:p>
            <a:r>
              <a:t>Elde/tahtada sayıya dökün: "4 uygulama, 2 asistan → 8 ayrı entegrasyon. 8 uygulama olsa 16."</a:t>
            </a:r>
          </a:p>
          <a:p/>
          <a:p>
            <a:r>
              <a:t>TARİHSEL DAYANAK (dinleyiciye 'bu bize özgü bir çıkmaz değil' hissini verir):</a:t>
            </a:r>
          </a:p>
          <a:p>
            <a:r>
              <a:t>"2024'te sektörün tamamı bu duvara çarptı. Varılan sonuç şuydu: sorun modelde değil, model ile</a:t>
            </a:r>
          </a:p>
          <a:p>
            <a:r>
              <a:t>sistemler arasında ortak bir dil olmamasında. Ortak dil çıkınca herkesin ayrı ayrı yazdığı</a:t>
            </a:r>
          </a:p>
          <a:p>
            <a:r>
              <a:t>bağlantılar gereksizleşir — tıpkı her cihaza ayrı şarj aleti taşımaktan kurtulmamız gibi."</a:t>
            </a:r>
          </a:p>
          <a:p/>
          <a:p>
            <a:r>
              <a:t>GEÇİŞ CÜMLESİ (bir sonraki slayda köprü — mutlaka söyleyin):</a:t>
            </a:r>
          </a:p>
          <a:p>
            <a:r>
              <a:t>"İşte MCP bu tıkanmanın cevabı olarak çıktı. Şimdi ne olduğuna bakalım."</a:t>
            </a:r>
          </a:p>
          <a:p/>
          <a:p>
            <a:r>
              <a:t>TUZAK: Bu slaytta MCP'nin teknik ayrıntısına GİRMEYİN. Burada sadece acıyı kurun.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[② ORTAK DİL — ~3,5 dk]  Kavram slaydı. Buradan kopan sonrasını takip edemez; acele etmeyin.</a:t>
            </a:r>
          </a:p>
          <a:p/>
          <a:p>
            <a:r>
              <a:t>AÇILIŞ:</a:t>
            </a:r>
          </a:p>
          <a:p>
            <a:r>
              <a:t>"O ortak dilin adı MCP — Model Context Protocol. İsmi önemli değil, ne yaptığı önemli:</a:t>
            </a:r>
          </a:p>
          <a:p>
            <a:r>
              <a:t>asistan ile sistemler arasında standart bir konuşma biçimi."</a:t>
            </a:r>
          </a:p>
          <a:p/>
          <a:p>
            <a:r>
              <a:t>PRİZ BENZETMESİ — bir kez kullanın, eşelemeyin:</a:t>
            </a:r>
          </a:p>
          <a:p>
            <a:r>
              <a:t>"Prizin iki ucu var. Bir uç asistan tarafı: soruyu alan, hangi yeteneklerin var olduğunu soran.</a:t>
            </a:r>
          </a:p>
          <a:p>
            <a:r>
              <a:t>Buna client deniyor — ve bizim chat uygulamamız bunu ZATEN konuşuyor, bugün çalışıyor.</a:t>
            </a:r>
          </a:p>
          <a:p>
            <a:r>
              <a:t>Diğer uç yeteneği sunan taraf: server. Bizim iş uygulamalarımızın olması gereken yer. Ve boş."</a:t>
            </a:r>
          </a:p>
          <a:p/>
          <a:p>
            <a:r>
              <a:t>ÜÇ KUTUNUN SIRASI: sol (var) → orta (yok) → sağ (değişmiyor).</a:t>
            </a:r>
          </a:p>
          <a:p>
            <a:r>
              <a:t>Sağ kutuyu vurgulayın: "Kredi servisimiz, Oracle'ımız, WildFly'ımız değişmiyor. Tek satırı bile."</a:t>
            </a:r>
          </a:p>
          <a:p>
            <a:r>
              <a:t>Bu cümle, odadaki 'yine büyük dönüşüm mü geliyor' endişesini erkenden söndürür.</a:t>
            </a:r>
          </a:p>
          <a:p/>
          <a:p>
            <a:r>
              <a:t>ÜÇ YAPI: tool = çağrılabilir işlem, resource = okunabilir içerik, prompt = hazır şablon.</a:t>
            </a:r>
          </a:p>
          <a:p>
            <a:r>
              <a:t>Biz tool ile başlayacağız; resource doküman senaryosunda devreye girer.</a:t>
            </a:r>
          </a:p>
          <a:p/>
          <a:p>
            <a:r>
              <a:t>TEKNİK ZEMİN (yalnız soru gelirse):</a:t>
            </a:r>
          </a:p>
          <a:p>
            <a:r>
              <a:t>• MCP, JSON-RPC 2.0 üzerine kurulu; transport (bağlantı biçimi) olarak yerel süreçte stdio,</a:t>
            </a:r>
          </a:p>
          <a:p>
            <a:r>
              <a:t>  ağ üzerinde HTTP. Spring AI 2.0'da streamable HTTP varsayılan; eski SSE transport'u</a:t>
            </a:r>
          </a:p>
          <a:p>
            <a:r>
              <a:t>  önerilmiyor — uzun ömürlü bağlantı tuttuğu için kurumsal proxy ve yük dengeleyicilerle</a:t>
            </a:r>
          </a:p>
          <a:p>
            <a:r>
              <a:t>  iyi geçinmiyor.</a:t>
            </a:r>
          </a:p>
          <a:p>
            <a:r>
              <a:t>• Keşif protokolün parçası: client "hangi yeteneklerin var" diye sorar (tools/list), sunucu</a:t>
            </a:r>
          </a:p>
          <a:p>
            <a:r>
              <a:t>  yetenekleri JSON Schema ile tarif eder. SONUÇ: yeni yetenek eklenince CLIENT'ta kod değişmez.</a:t>
            </a:r>
          </a:p>
          <a:p>
            <a:r>
              <a:t>• "REST'ten farkı ne?" → "REST'te istemcinin sözleşmeyi önceden bilmesi gerekir; entegrasyon</a:t>
            </a:r>
          </a:p>
          <a:p>
            <a:r>
              <a:t>  derleme zamanında kurulur. MCP'de sözleşme çalışma zamanında sunucudan gelir. REST'in yerine</a:t>
            </a:r>
          </a:p>
          <a:p>
            <a:r>
              <a:t>  geçmiyor; REST servisimizin önüne, modelin okuyabileceği bir tanıtım katmanı koyuyor."</a:t>
            </a:r>
          </a:p>
          <a:p>
            <a:r>
              <a:t>• "Standart mı?" → Açık spesifikasyon; Spring AI 2.0 resmî Java SDK ile 2025-11-25 sürümünü uyguluyor.</a:t>
            </a:r>
          </a:p>
          <a:p/>
          <a:p>
            <a:r>
              <a:t>• "Uygulama yeteneğini tam olarak nasıl bildiriyor?" → İki katmanda:</a:t>
            </a:r>
          </a:p>
          <a:p>
            <a:r>
              <a:t>  1) KODDA: mevcut servis metodunun üstüne @Tool, parametrelere @ToolParam — zaten süreç içi tool için kullandığımız anotasyonların aynısı; yayınlanacaklar ayrıca ZeusMcpTools.of(...) ile bildirilir.</a:t>
            </a:r>
          </a:p>
          <a:p>
            <a:r>
              <a:t>  2) PROTOKOLDE: client bağlanınca tools/list çağırır; sunucu metot imzasından JSON Schema</a:t>
            </a:r>
          </a:p>
          <a:p>
            <a:r>
              <a:t>     türetip isim + açıklama + parametre şeması döner. Model Java kodunu görmez, bu üçünü görür.</a:t>
            </a:r>
          </a:p>
          <a:p>
            <a:r>
              <a:t>  KRİTİK: description bir yorum değil, ARAYÜZ SÖZLEŞMESİDİR. Model seçimini ona bakarak yapar;</a:t>
            </a:r>
          </a:p>
          <a:p>
            <a:r>
              <a:t>  muğlak açıklama = tool ya hiç çağrılmaz ya yanlış çağrılır. Ekiplere verilecek tek kural budur.</a:t>
            </a:r>
          </a:p>
          <a:p/>
          <a:p>
            <a:r>
              <a:t>• "Yani her yetenek iki satıra mı iniyor?" → HAYIR, bu abartıya girmeyin. Yalnızca SERVİSİ</a:t>
            </a:r>
          </a:p>
          <a:p>
            <a:r>
              <a:t>  ZATEN OLAN yetenekler için doğru. Servis yoksa servisi yine yazacaksınız — MCP servis yazmayı</a:t>
            </a:r>
          </a:p>
          <a:p>
            <a:r>
              <a:t>  ortadan kaldırmıyor, var olan servisi asistana açmanın maliyetini ortadan kaldırıyor.</a:t>
            </a:r>
          </a:p>
          <a:p/>
          <a:p>
            <a:r>
              <a:t>TERİM DİSİPLİNİ: "yetenek" kelimesini yalnızca yönetsel anlamda kullanın (asistanın yapabildiği</a:t>
            </a:r>
          </a:p>
          <a:p>
            <a:r>
              <a:t>iş). Protokol anlamında tool / resource / prompt deyin — MCP'de "capability" zaten ayrı ve</a:t>
            </a:r>
          </a:p>
          <a:p>
            <a:r>
              <a:t>resmî bir terim, ikisini aynı kelimeyle anmak dinleyiciyi karıştırır.</a:t>
            </a:r>
          </a:p>
          <a:p/>
          <a:p>
            <a:r>
              <a:t>GEÇİŞ CÜMLESİ:</a:t>
            </a:r>
          </a:p>
          <a:p>
            <a:r>
              <a:t>"Yeni bir asistan almıyoruz — var olanı kendi sistemlerimize takıyoruz. Peki bu boştaki ucu</a:t>
            </a:r>
          </a:p>
          <a:p>
            <a:r>
              <a:t>kim yazacak, hangi dille?"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[③ KİM YAZACAK — ~3,5 dk]  Odadaki en teknik slayt; en çok soru buradan gelir.</a:t>
            </a:r>
          </a:p>
          <a:p/>
          <a:p>
            <a:r>
              <a:t>ÇERÇEVEYİ BAŞTA KURUN (slaydın başlığı bu):</a:t>
            </a:r>
          </a:p>
          <a:p>
            <a:r>
              <a:t>"Finans kurumunda bu sorunun cevabı 'hangi dili seviyoruz' değil. Tek bir ölçüt var:</a:t>
            </a:r>
          </a:p>
          <a:p>
            <a:r>
              <a:t>yetki nerede duruyor? Kod da orada yazılır."</a:t>
            </a:r>
          </a:p>
          <a:p/>
          <a:p>
            <a:r>
              <a:t>SOL PANEL — karşı seçeneği ÖNCE kabul edin, sonra maliyetini gösterin:</a:t>
            </a:r>
          </a:p>
          <a:p>
            <a:r>
              <a:t>"Protokol dil bağımsız; Python ya da Node ile de yazılabilirdi. Ama MCP sunucusu uygulamanın</a:t>
            </a:r>
          </a:p>
          <a:p>
            <a:r>
              <a:t>İÇİNDE çalıştığında istek zaten bizim filtre zincirimizden geçiyor: JWT doğrulaması, rol kontrolü,</a:t>
            </a:r>
          </a:p>
          <a:p>
            <a:r>
              <a:t>oturum bağlamı — bugünkü haliyle. Kullanıcının bugün göremediği veriyi asistan da göremiyor.</a:t>
            </a:r>
          </a:p>
          <a:p>
            <a:r>
              <a:t>Ayrı dilde ayrı bir servis yazsaydık JWT doğrulamasını ve rol eşlemesini ikinci kez yazacaktık;</a:t>
            </a:r>
          </a:p>
          <a:p>
            <a:r>
              <a:t>üstelik iş kuralına ulaşmak için yine bizim servisimize çağrı yapacaktı — iki atlama, iki bakım yeri."</a:t>
            </a:r>
          </a:p>
          <a:p>
            <a:r>
              <a:t>NOT: "Java daha iyi dildir" demeye kalkmayın; bu odada haklı olarak itiraz alırsınız.</a:t>
            </a:r>
          </a:p>
          <a:p/>
          <a:p>
            <a:r>
              <a:t>DÜRÜSTLÜK NOTU (kendinize): zeus-fw'da bugün JWT/Security modülü YOK; bu kurulacak yapının</a:t>
            </a:r>
          </a:p>
          <a:p>
            <a:r>
              <a:t>tasarım ilkesi. "Sunucu uygulamanın içinde çalışacağı için uygulamanın kendi güvenlik zinciri</a:t>
            </a:r>
          </a:p>
          <a:p>
            <a:r>
              <a:t>geçerli olacak" deyin — "hazır ve çalışıyor" demeyin.</a:t>
            </a:r>
          </a:p>
          <a:p/>
          <a:p>
            <a:r>
              <a:t>SAĞ PANEL — asıl yönetsel argüman:</a:t>
            </a:r>
          </a:p>
          <a:p>
            <a:r>
              <a:t>"Sekiz uygulama bunu kendi başına yazarsa sekiz farklı yetki yorumu ve sekiz ayrı güvenlik yüzeyi</a:t>
            </a:r>
          </a:p>
          <a:p>
            <a:r>
              <a:t>oluşur. Bir tanesi yanlış yaparsa haber kurumun adına çıkar. Platform katmanı bunu bir kez,</a:t>
            </a:r>
          </a:p>
          <a:p>
            <a:r>
              <a:t>doğru şekilde yapar; uygulama ekibinin işi üç adıma iner."</a:t>
            </a:r>
          </a:p>
          <a:p/>
          <a:p>
            <a:r>
              <a:t>BEKLENEN SORU — "Merkezî tek bir MCP sunucusu kursak olmaz mı?"</a:t>
            </a:r>
          </a:p>
          <a:p>
            <a:r>
              <a:t>CEVAP: "Olur ama o zaman yetki ve iş kuralı merkeze taşınır; tam kaçındığımız şey bu. İleride</a:t>
            </a:r>
          </a:p>
          <a:p>
            <a:r>
              <a:t>keşif ve kota için bir MCP ağ geçidi konuşulabilir — ama yeteneğin kendisi sahibinin yanında kalmalı."</a:t>
            </a:r>
          </a:p>
          <a:p/>
          <a:p>
            <a:r>
              <a:t>BEKLENEN SORU — "WildFly'a nasıl oturuyor?"</a:t>
            </a:r>
          </a:p>
          <a:p>
            <a:r>
              <a:t>CEVAP: "Paketleme değişmiyor: zeus jar'ları ince WAR'da, üçüncü parti kütüphaneler paylaşımlı</a:t>
            </a:r>
          </a:p>
          <a:p>
            <a:r>
              <a:t>com.zeus module'ünde. Spring AI eklendiğinde module 157 jar'a çıktı, WAR 66 KB kaldı. Somut örnek:</a:t>
            </a:r>
          </a:p>
          <a:p>
            <a:r>
              <a:t>module'e spring-webflux girince WildFly'ın anotasyon taraması jakarta.websocket API'sini göremeyip</a:t>
            </a:r>
          </a:p>
          <a:p>
            <a:r>
              <a:t>deploy'u düşürdü; module tanımına ekleyip çözdük. Bu yolu gerçekten yürüdük."</a:t>
            </a:r>
          </a:p>
          <a:p/>
          <a:p>
            <a:r>
              <a:t>BEKLENEN SORU — "Mevcut bearer token'ımız MCP için de yeterli mi?" (en olası teknik soru)</a:t>
            </a:r>
          </a:p>
          <a:p>
            <a:r>
              <a:t>CEVAP: "Evet, çünkü MCP sunucusu uygulamanın içinde, aynı servlet yığınında çalışıyor; istek</a:t>
            </a:r>
          </a:p>
          <a:p>
            <a:r>
              <a:t>mevcut JWT filtremizden geçiyor. Ama dört şartla — dördü de bizim kontrol listemizde:</a:t>
            </a:r>
          </a:p>
          <a:p>
            <a:r>
              <a:t>  1) MCP endpoint'i filtrenin URL desenine dahil olacak. Filtre /* ise kendiliğinden dahil;</a:t>
            </a:r>
          </a:p>
          <a:p>
            <a:r>
              <a:t>     /api/* gibi daraltılmışsa endpoint'i oraya taşıyoruz — bu bir property:</a:t>
            </a:r>
          </a:p>
          <a:p>
            <a:r>
              <a:t>     spring.ai.mcp.server.streamable-http.mcp-endpoint=/api/mcp</a:t>
            </a:r>
          </a:p>
          <a:p>
            <a:r>
              <a:t>  2) Tool metodu istek thread'inde çalışacak (senkron STREAMABLE); aksi halde ThreadLocal'daki</a:t>
            </a:r>
          </a:p>
          <a:p>
            <a:r>
              <a:t>     kimlik taşınmaz. Bunu varsaymıyoruz, ilk iş deneme tool'uyla ölçeceğiz.</a:t>
            </a:r>
          </a:p>
          <a:p>
            <a:r>
              <a:t>  3) Tool içinde metot seviyesinde yetki kontrolü olacak (@PreAuthorize).</a:t>
            </a:r>
          </a:p>
          <a:p>
            <a:r>
              <a:t>  4) Chat uygulaması SON KULLANICININ token'ını taşıyacak, kendi servis token'ını değil."</a:t>
            </a:r>
          </a:p>
          <a:p>
            <a:r>
              <a:t>DİKKAT: 4. madde bizim değil, chat uygulamasının kararı. Servis token'ı gönderilirse</a:t>
            </a:r>
          </a:p>
          <a:p>
            <a:r>
              <a:t>"kullanıcının göremediğini asistan da göremez" cümlesi teknik olarak YANLIŞ olur.</a:t>
            </a:r>
          </a:p>
          <a:p>
            <a:r>
              <a:t>Bu bağımlılığı o ekiple netleştirmemiz gerekiyor — sunumda "otomatik" demeyin.</a:t>
            </a:r>
          </a:p>
          <a:p/>
          <a:p>
            <a:r>
              <a:t>GEÇİŞ CÜMLESİ (kritik — bir sonraki slaydın kurgusu buna dayanıyor):</a:t>
            </a:r>
          </a:p>
          <a:p>
            <a:r>
              <a:t>"Dikkat edin, bu slaytta iki söz verdik: yetki bizim elimizde kalacak, protokol standart olacak.</a:t>
            </a:r>
          </a:p>
          <a:p>
            <a:r>
              <a:t>Şimdi bu sözleri tutabileceğimiz altyapıya bakalım."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[④ NEYİN ÜSTÜNE — ~3 dk]  Sunumun vurucu noktası. Kurgu: karşılaştırma değil, SINAV.</a:t>
            </a:r>
          </a:p>
          <a:p/>
          <a:p>
            <a:r>
              <a:t>AÇILIŞ — üstteki lacivert şeridi okuyun:</a:t>
            </a:r>
          </a:p>
          <a:p>
            <a:r>
              <a:t>"Az önce iki söz verdik. Spring AI'ın iki hattını bu iki sözle sınadık — 'yeni olan iyidir'</a:t>
            </a:r>
          </a:p>
          <a:p>
            <a:r>
              <a:t>diye değil."</a:t>
            </a:r>
          </a:p>
          <a:p/>
          <a:p>
            <a:r>
              <a:t>SOL PANEL — 1.x neden düştü, sözlerle eşleştirerek:</a:t>
            </a:r>
          </a:p>
          <a:p>
            <a:r>
              <a:t>"Birinci söz: yetki ve denetim kaydı bizim elimizde kalacaktı. Model bir tool çağırmak</a:t>
            </a:r>
          </a:p>
          <a:p>
            <a:r>
              <a:t>istediğinde biri o tool'u çalıştırıp sonucu modele geri vermeli ve modeli tekrar çağırmalı;</a:t>
            </a:r>
          </a:p>
          <a:p>
            <a:r>
              <a:t>bu tekrara TOOL CALLING DÖNGÜSÜ diyoruz. 1.x'te bu döngü model sınıfının içinde private bir</a:t>
            </a:r>
          </a:p>
          <a:p>
            <a:r>
              <a:t>while'dı — araya yetki kontrolü, denetim kaydı, tur sınırı veya kota koyamıyorduk; müdahalenin</a:t>
            </a:r>
          </a:p>
          <a:p>
            <a:r>
              <a:t>tek yolu kütüphaneyi çatallamaktı. Yani birinci sözü tutamıyorduk.</a:t>
            </a:r>
          </a:p>
          <a:p>
            <a:r>
              <a:t>İkinci söz: güncel protokol. MCP tarihle sürümlenir: 2024-11-05 → 2025-03-26 → 2025-06-18 →</a:t>
            </a:r>
          </a:p>
          <a:p>
            <a:r>
              <a:t>2025-11-25. 1.x eski tarihli bir sürümde kaldı; standart yetkilendirme ve streamable HTTP</a:t>
            </a:r>
          </a:p>
          <a:p>
            <a:r>
              <a:t>transport o sürümde henüz yoktu. İkinci sözü de tutamıyorduk.</a:t>
            </a:r>
          </a:p>
          <a:p>
            <a:r>
              <a:t>Bunların üstüne: temeli Spring Boot 3.5, bizim Boot 4 platformumuzda hiç yüklenmiyor; ve</a:t>
            </a:r>
          </a:p>
          <a:p>
            <a:r>
              <a:t>Haziran 2026'da destek dışı kaldı."</a:t>
            </a:r>
          </a:p>
          <a:p/>
          <a:p>
            <a:r>
              <a:t>SAĞ PANEL — 2.x aynı iki maddeyle:</a:t>
            </a:r>
          </a:p>
          <a:p>
            <a:r>
              <a:t>"2.0'da döngü advisor zincirine taşındı. En kolay anlaşılan karşılığı SERVLET FILTER CHAIN:</a:t>
            </a:r>
          </a:p>
          <a:p>
            <a:r>
              <a:t>1.x'te konteyner isteği işliyordu ama siz filtre ekleyemiyordunuz; 2.0'da döngü zincirin bir</a:t>
            </a:r>
          </a:p>
          <a:p>
            <a:r>
              <a:t>halkası oldu — tıpkı JWT filtremizi zincire eklediğimiz gibi, tool çağrılarının etrafına kendi</a:t>
            </a:r>
          </a:p>
          <a:p>
            <a:r>
              <a:t>halkamızı ekleyebiliyoruz. MCP çekirdeğe alındı: 2025-11-25 sürümü, resmî Java SDK 2.0.</a:t>
            </a:r>
          </a:p>
          <a:p>
            <a:r>
              <a:t>Temeli Boot 4 ve Java 25 — Zeus 2.0.0 ile birebir aynı."</a:t>
            </a:r>
          </a:p>
          <a:p/>
          <a:p>
            <a:r>
              <a:t>EN ÖNEMLİ CÜMLE (alttaki şerit — yavaş söyleyin):</a:t>
            </a:r>
          </a:p>
          <a:p>
            <a:r>
              <a:t>"1.x'i eski olduğu için elemedik. Bu sunumda verdiğimiz iki sözü teknik olarak tutamadığı için eledik."</a:t>
            </a:r>
          </a:p>
          <a:p/>
          <a:p>
            <a:r>
              <a:t>BEKLENEN SORU — "Sürüm çok yeni, riskli değil mi?"</a:t>
            </a:r>
          </a:p>
          <a:p>
            <a:r>
              <a:t>CEVAP: "Kararlı sürüm 12 Haziran 2026'da çıktı, genç. Bu yüzden uygulamaları Spring AI'a DOĞRUDAN</a:t>
            </a:r>
          </a:p>
          <a:p>
            <a:r>
              <a:t>bağlamıyoruz; araya zeus-ai-mcp'nin kendi arayüzü giriyor. Kütüphane arayüzü değişirse tek yerde</a:t>
            </a:r>
          </a:p>
          <a:p>
            <a:r>
              <a:t>değişir, sekiz uygulamada değil. Riski platform katmanında soğuruyoruz — bu zaten üçüncü adımın gerekçesiydi."</a:t>
            </a:r>
          </a:p>
          <a:p/>
          <a:p>
            <a:r>
              <a:t>BEKLENEN SORU — "Neden Spring AI, başka bir kütüphane değil?"</a:t>
            </a:r>
          </a:p>
          <a:p>
            <a:r>
              <a:t>CEVAP: "Aynı sürüm ve destek takvimi, aynı bağımlılık yönetimi, Boot 4 ile birebir uyum ve ekibin</a:t>
            </a:r>
          </a:p>
          <a:p>
            <a:r>
              <a:t>zaten bildiği programlama modeli. İkinci bir yaşam döngüsünü ayrıca takip etmek istemiyoruz."</a:t>
            </a:r>
          </a:p>
          <a:p/>
          <a:p>
            <a:r>
              <a:t>BEKLENEN SORU — "Jackson 2 / Jackson 3 farkı bu kararda rol oynadı mı?"</a:t>
            </a:r>
          </a:p>
          <a:p>
            <a:r>
              <a:t>CEVAP: "Hayır. Jackson 2 ile 3 farklı paket adları sayesinde aynı classpath'te yan yana</a:t>
            </a:r>
          </a:p>
          <a:p>
            <a:r>
              <a:t>durabiliyor; bir kütüphanenin içeride Jackson 2 kullanması onu Boot 4'te kullanılamaz yapmaz.</a:t>
            </a:r>
          </a:p>
          <a:p>
            <a:r>
              <a:t>1.x'i eleyen şey Boot 4'te hiç yüklenmemesi ve destek dışı kalması. Jackson bir belirti,</a:t>
            </a:r>
          </a:p>
          <a:p>
            <a:r>
              <a:t>gerekçe değil." NOT: Slaytta Jackson'ı bilerek gerekçe olarak SAYMIYORUZ — çürütülebilir bir</a:t>
            </a:r>
          </a:p>
          <a:p>
            <a:r>
              <a:t>madde, çürütüldüğünde diğer maddelere duyulan güveni de zedeler.</a:t>
            </a:r>
          </a:p>
          <a:p/>
          <a:p>
            <a:r>
              <a:t>BEKLENEN SORU — "Performans?"</a:t>
            </a:r>
          </a:p>
          <a:p>
            <a:r>
              <a:t>CEVAP: "Bir araç çağrısı en az iki model turu demek. Kendi ölçümlerimizde uçtan uca 2,4 ile 35 saniye</a:t>
            </a:r>
          </a:p>
          <a:p>
            <a:r>
              <a:t>arasında değişti. Senkron kullanıcı akışlarında bu gerçek bir tasarım kısıtı; zaman aşımı ve beklenti</a:t>
            </a:r>
          </a:p>
          <a:p>
            <a:r>
              <a:t>buna göre kurgulanacak."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[KAPANIŞ — ~1,5 dk]  Hikâyeyi geri sarıp işi tek cümleyle tanımlayın.</a:t>
            </a:r>
          </a:p>
          <a:p/>
          <a:p>
            <a:r>
              <a:t>DÖRT ADIMI HIZLI OKUYUN — her birinde bir saniye durun. Amaç, dinleyicinin zincirin tamamını</a:t>
            </a:r>
          </a:p>
          <a:p>
            <a:r>
              <a:t>tek nefeste görmesi: soru → ortak dil → kim yazacak → neyin üstüne.</a:t>
            </a:r>
          </a:p>
          <a:p/>
          <a:p>
            <a:r>
              <a:t>SONRA LACİVERT KUTUYU OKUYUN — sunumun tek cümlelik tanımı budur:</a:t>
            </a:r>
          </a:p>
          <a:p>
            <a:r>
              <a:t>"zeus-ai-mcp: kurumsal uygulamalarımızın yeteneklerini — yetkiyi kendi elimizde tutarak — asistana</a:t>
            </a:r>
          </a:p>
          <a:p>
            <a:r>
              <a:t>açan platform katmanı."</a:t>
            </a:r>
          </a:p>
          <a:p>
            <a:r>
              <a:t>Bu cümleyi yavaş söyleyin; toplantıdan sonra akılda kalacak tek cümle bu olacak.</a:t>
            </a:r>
          </a:p>
          <a:p/>
          <a:p>
            <a:r>
              <a:t>KAPANIŞ:</a:t>
            </a:r>
          </a:p>
          <a:p>
            <a:r>
              <a:t>"Bu katman kurulduğunda yapay zekâ, bir uygulamanın özelliği olmaktan çıkıp platformun yeteneği olur.</a:t>
            </a:r>
          </a:p>
          <a:p>
            <a:r>
              <a:t>Bugün bir talebimiz yok; yönü paylaşmaya ve görüşünüzü almaya geldik."</a:t>
            </a:r>
          </a:p>
          <a:p/>
          <a:p>
            <a:r>
              <a:t>SORU GELMEZSE kendiniz açın (sessizlik onay değildir):</a:t>
            </a:r>
          </a:p>
          <a:p>
            <a:r>
              <a:t>"En çok tartışılmasını beklediğim nokta üçüncü adımdı: tek platform mu, her ekip kendi mi?</a:t>
            </a:r>
          </a:p>
          <a:p>
            <a:r>
              <a:t>Bu konuda farklı düşünen varsa duymak isterim."</a:t>
            </a:r>
          </a:p>
          <a:p/>
          <a:p>
            <a:r>
              <a:t>EĞER "ne zaman?" DİYE SORARLARSA:</a:t>
            </a:r>
          </a:p>
          <a:p>
            <a:r>
              <a:t>Takvim sözü VERMEYİN. "Önce bir uygulamada uçtan uca doğrulama, ölçüm noktalarıyla birlikte;</a:t>
            </a:r>
          </a:p>
          <a:p>
            <a:r>
              <a:t>sonra ikinci uygulamanın maliyetini ölçüp konuşuruz" deyin. Bu sunum yön sunumu, plan sunumu değil.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645920"/>
            <a:ext cx="69494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</a:pPr>
            <a:r>
              <a:rPr sz="1100" b="1" i="0">
                <a:solidFill>
                  <a:srgbClr val="9DC3E6"/>
                </a:solidFill>
                <a:latin typeface="Calibri"/>
              </a:rPr>
              <a:t>ZEUS PLATFORMU  ·  AĞUSTOS 2026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«Asistan Neden Müşterimin Kredi Durumunu Bilmiyor?»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FDDEE"/>
                </a:solidFill>
                <a:latin typeface="Calibri"/>
              </a:rPr>
              <a:t>Bir kullanıcı sorusundan başlayıp bir mimari karara varan hikâye.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4160520"/>
            <a:ext cx="1280160" cy="45720"/>
          </a:xfrm>
          <a:prstGeom prst="rect">
            <a:avLst/>
          </a:prstGeom>
          <a:solidFill>
            <a:srgbClr val="9D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4526280"/>
            <a:ext cx="1783080" cy="868680"/>
          </a:xfrm>
          <a:prstGeom prst="roundRect">
            <a:avLst>
              <a:gd name="adj" fmla="val 8000"/>
            </a:avLst>
          </a:prstGeom>
          <a:solidFill>
            <a:srgbClr val="2A4878"/>
          </a:solidFill>
          <a:ln w="9525">
            <a:solidFill>
              <a:srgbClr val="3C5F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①  SORUN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9DC3E6"/>
                </a:solidFill>
                <a:latin typeface="Calibri"/>
              </a:rPr>
              <a:t>soru nereden çıktı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97480" y="4526280"/>
            <a:ext cx="1783080" cy="868680"/>
          </a:xfrm>
          <a:prstGeom prst="roundRect">
            <a:avLst>
              <a:gd name="adj" fmla="val 8000"/>
            </a:avLst>
          </a:prstGeom>
          <a:solidFill>
            <a:srgbClr val="2A4878"/>
          </a:solidFill>
          <a:ln w="9525">
            <a:solidFill>
              <a:srgbClr val="3C5F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②  ORTAK DİL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9DC3E6"/>
                </a:solidFill>
                <a:latin typeface="Calibri"/>
              </a:rPr>
              <a:t>MCP nedir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4526280"/>
            <a:ext cx="1783080" cy="868680"/>
          </a:xfrm>
          <a:prstGeom prst="roundRect">
            <a:avLst>
              <a:gd name="adj" fmla="val 8000"/>
            </a:avLst>
          </a:prstGeom>
          <a:solidFill>
            <a:srgbClr val="2A4878"/>
          </a:solidFill>
          <a:ln w="9525">
            <a:solidFill>
              <a:srgbClr val="3C5F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③  KİM YAZACAK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9DC3E6"/>
                </a:solidFill>
                <a:latin typeface="Calibri"/>
              </a:rPr>
              <a:t>Java ve 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4526280"/>
            <a:ext cx="1783080" cy="868680"/>
          </a:xfrm>
          <a:prstGeom prst="roundRect">
            <a:avLst>
              <a:gd name="adj" fmla="val 8000"/>
            </a:avLst>
          </a:prstGeom>
          <a:solidFill>
            <a:srgbClr val="2A4878"/>
          </a:solidFill>
          <a:ln w="9525">
            <a:solidFill>
              <a:srgbClr val="3C5F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④  NEYİN ÜSTÜNE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9DC3E6"/>
                </a:solidFill>
                <a:latin typeface="Calibri"/>
              </a:rPr>
              <a:t>Spring AI 2.x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760720"/>
            <a:ext cx="7589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9DC3E6"/>
                </a:solidFill>
                <a:latin typeface="Calibri"/>
              </a:rPr>
              <a:t>Dört adım, on beş dakika. Sonunda bir altyapı kararını birlikte gerekçelendirmiş olacağız.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1323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E75B6"/>
                </a:solidFill>
                <a:latin typeface="Calibri"/>
              </a:rPr>
              <a:t>①  SORUN — hikâye nereden başladı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F3864"/>
                </a:solidFill>
                <a:latin typeface="Calibri"/>
              </a:rPr>
              <a:t>Her Şey Basit Bir Soruyla Başladı</a:t>
            </a:r>
          </a:p>
        </p:txBody>
      </p:sp>
      <p:sp>
        <p:nvSpPr>
          <p:cNvPr id="4" name="Oval 3"/>
          <p:cNvSpPr/>
          <p:nvPr/>
        </p:nvSpPr>
        <p:spPr>
          <a:xfrm>
            <a:off x="8028431" y="384048"/>
            <a:ext cx="109728" cy="10972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11311" y="384048"/>
            <a:ext cx="109728" cy="109728"/>
          </a:xfrm>
          <a:prstGeom prst="ellipse">
            <a:avLst/>
          </a:prstGeom>
          <a:solidFill>
            <a:srgbClr val="D6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394192" y="384048"/>
            <a:ext cx="109728" cy="109728"/>
          </a:xfrm>
          <a:prstGeom prst="ellipse">
            <a:avLst/>
          </a:prstGeom>
          <a:solidFill>
            <a:srgbClr val="D6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77072" y="384048"/>
            <a:ext cx="109728" cy="109728"/>
          </a:xfrm>
          <a:prstGeom prst="ellipse">
            <a:avLst/>
          </a:prstGeom>
          <a:solidFill>
            <a:srgbClr val="D6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808080"/>
                </a:solidFill>
                <a:latin typeface="Calibri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298448"/>
            <a:ext cx="2651760" cy="1965960"/>
          </a:xfrm>
          <a:prstGeom prst="roundRect">
            <a:avLst>
              <a:gd name="adj" fmla="val 4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5448" rIns="155448" tIns="118872" bIns="118872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 i="0">
                <a:solidFill>
                  <a:srgbClr val="2E75B6"/>
                </a:solidFill>
                <a:latin typeface="Calibri"/>
              </a:rPr>
              <a:t>1 · AÇTIK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Chat uygulamasını devreye aldık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Kullanıcı memnun: metin yazıyor, özetliyor, genel soruları cevaplıyor.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298448"/>
            <a:ext cx="2651760" cy="1965960"/>
          </a:xfrm>
          <a:prstGeom prst="roundRect">
            <a:avLst>
              <a:gd name="adj" fmla="val 4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5448" rIns="155448" tIns="118872" bIns="118872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 i="0">
                <a:solidFill>
                  <a:srgbClr val="2E75B6"/>
                </a:solidFill>
                <a:latin typeface="Calibri"/>
              </a:rPr>
              <a:t>2 · İLK SORU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«Peki benim müşterim?»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«Bu asistan, müşterimin kredi başvurusu ne durumda söyleyemiyor mu?» Model dünyayı biliyor — bizi bilmiyor.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298448"/>
            <a:ext cx="2651760" cy="1965960"/>
          </a:xfrm>
          <a:prstGeom prst="roundRect">
            <a:avLst>
              <a:gd name="adj" fmla="val 4000"/>
            </a:avLst>
          </a:prstGeom>
          <a:solidFill>
            <a:srgbClr val="F9ECEA"/>
          </a:solidFill>
          <a:ln w="9525">
            <a:solidFill>
              <a:srgbClr val="E8C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5448" rIns="155448" tIns="118872" bIns="118872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 i="0">
                <a:solidFill>
                  <a:srgbClr val="A03A34"/>
                </a:solidFill>
                <a:latin typeface="Calibri"/>
              </a:rPr>
              <a:t>3 · İLK REFLEKS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Her soru için özel entegrasyon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6B2E2A"/>
                </a:solidFill>
                <a:latin typeface="Calibri"/>
              </a:rPr>
              <a:t>Her uygulama için ayrı bağlantı, ayrı yetki kodu, ayrı bakım. 4 uygulama × 2 asistan = 8 ayrı iş.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27248" y="2180844"/>
            <a:ext cx="100584" cy="201168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5916167" y="2180844"/>
            <a:ext cx="100584" cy="201168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3520440"/>
            <a:ext cx="8229600" cy="1234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5448" rIns="155448" tIns="118872" bIns="118872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A03A34"/>
                </a:solidFill>
                <a:latin typeface="Calibri"/>
              </a:rPr>
              <a:t>TIKANDIĞIMIZ YER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Her yeni yetenek ayrı bir proje oldu. Yetki mantığı her entegrasyonda yeniden yazıldı. Bir asistan daha eklendiğinde tüm iş baştan tekrarlanacaktı: N uygulama × M asistan.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1F3864"/>
                </a:solidFill>
                <a:latin typeface="Calibri"/>
              </a:rPr>
              <a:t>Sektörün 2024'te vardığı sonuç da buydu: sorun modelde değil — model ile sistemler arasında ortak bir dilin olmamasında.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983480"/>
            <a:ext cx="8229600" cy="822960"/>
          </a:xfrm>
          <a:prstGeom prst="roundRect">
            <a:avLst>
              <a:gd name="adj" fmla="val 4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5448" rIns="155448" tIns="118872" bIns="11887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F3864"/>
                </a:solidFill>
                <a:latin typeface="Calibri"/>
              </a:rPr>
              <a:t>İhtiyaç buradan doğdu: her uygulamaya özel bağlantı yerine, herkesin konuştuğu tek bir dil.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2E75B6"/>
                </a:solidFill>
                <a:latin typeface="Calibri"/>
              </a:rPr>
              <a:t>İşte MCP, masa başında icat edilmiş bir moda değil — tam olarak bu tıkanmanın cevabı.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1323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E75B6"/>
                </a:solidFill>
                <a:latin typeface="Calibri"/>
              </a:rPr>
              <a:t>②  ORTAK DİL — peki bu dil nasıl çalışıyor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F3864"/>
                </a:solidFill>
                <a:latin typeface="Calibri"/>
              </a:rPr>
              <a:t>MCP: Prizin İki Ucu</a:t>
            </a:r>
          </a:p>
        </p:txBody>
      </p:sp>
      <p:sp>
        <p:nvSpPr>
          <p:cNvPr id="4" name="Oval 3"/>
          <p:cNvSpPr/>
          <p:nvPr/>
        </p:nvSpPr>
        <p:spPr>
          <a:xfrm>
            <a:off x="8028431" y="384048"/>
            <a:ext cx="109728" cy="109728"/>
          </a:xfrm>
          <a:prstGeom prst="ellipse">
            <a:avLst/>
          </a:prstGeom>
          <a:solidFill>
            <a:srgbClr val="D6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11311" y="384048"/>
            <a:ext cx="109728" cy="10972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394192" y="384048"/>
            <a:ext cx="109728" cy="109728"/>
          </a:xfrm>
          <a:prstGeom prst="ellipse">
            <a:avLst/>
          </a:prstGeom>
          <a:solidFill>
            <a:srgbClr val="D6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77072" y="384048"/>
            <a:ext cx="109728" cy="109728"/>
          </a:xfrm>
          <a:prstGeom prst="ellipse">
            <a:avLst/>
          </a:prstGeom>
          <a:solidFill>
            <a:srgbClr val="D6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808080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MCP (Model Context Protocol) — asistan ile sistemler arasındaki ortak dil. Elektrik prizi gibi: bir kez standartlaşır, sonra her cihaz her prize takılır.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37360"/>
            <a:ext cx="2331720" cy="1783080"/>
          </a:xfrm>
          <a:prstGeom prst="roundRect">
            <a:avLst>
              <a:gd name="adj" fmla="val 4000"/>
            </a:avLst>
          </a:prstGeom>
          <a:solidFill>
            <a:srgbClr val="EAF3E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5448" rIns="155448" tIns="118872" bIns="118872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 i="0">
                <a:solidFill>
                  <a:srgbClr val="2E6B2E"/>
                </a:solidFill>
                <a:latin typeface="Calibri"/>
              </a:rPr>
              <a:t>✓  BU UÇ TAKILI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50" b="1" i="0">
                <a:solidFill>
                  <a:srgbClr val="1F3864"/>
                </a:solidFill>
                <a:latin typeface="Calibri"/>
              </a:rPr>
              <a:t>Chat uygulaması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E6B2E"/>
                </a:solidFill>
                <a:latin typeface="Calibri"/>
              </a:rPr>
              <a:t>MCP CLIENT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Soruyu alır, karşı tarafta hangi tool'lar var diye sorar, gerekeni çağırır. Bugün çalışıyor.</a:t>
            </a:r>
          </a:p>
        </p:txBody>
      </p:sp>
      <p:sp>
        <p:nvSpPr>
          <p:cNvPr id="11" name="Left-Right Arrow 10"/>
          <p:cNvSpPr/>
          <p:nvPr/>
        </p:nvSpPr>
        <p:spPr>
          <a:xfrm>
            <a:off x="2871216" y="2464308"/>
            <a:ext cx="457200" cy="329184"/>
          </a:xfrm>
          <a:prstGeom prst="left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88336" y="2171700"/>
            <a:ext cx="8229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2E75B6"/>
                </a:solidFill>
                <a:latin typeface="Calibri"/>
              </a:rPr>
              <a:t>MCP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10712" y="1737360"/>
            <a:ext cx="2331720" cy="1783080"/>
          </a:xfrm>
          <a:prstGeom prst="roundRect">
            <a:avLst>
              <a:gd name="adj" fmla="val 4000"/>
            </a:avLst>
          </a:prstGeom>
          <a:solidFill>
            <a:srgbClr val="FDF4E3"/>
          </a:solidFill>
          <a:ln w="9525">
            <a:solidFill>
              <a:srgbClr val="E8C9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5448" rIns="155448" tIns="118872" bIns="118872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 i="0">
                <a:solidFill>
                  <a:srgbClr val="9C6F1A"/>
                </a:solidFill>
                <a:latin typeface="Calibri"/>
              </a:rPr>
              <a:t>○  BU UÇ BOŞTA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50" b="1" i="0">
                <a:solidFill>
                  <a:srgbClr val="1F3864"/>
                </a:solidFill>
                <a:latin typeface="Calibri"/>
              </a:rPr>
              <a:t>İş uygulamalarımız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9C6F1A"/>
                </a:solidFill>
                <a:latin typeface="Calibri"/>
              </a:rPr>
              <a:t>MCP SERVER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Mevcut servis metodunu tool olarak bildirir, çağrıldığında çalıştırır. Kuracağımız bu.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815584" y="2464308"/>
            <a:ext cx="457200" cy="329184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55080" y="1737360"/>
            <a:ext cx="2331720" cy="17830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5448" rIns="155448" tIns="118872" bIns="118872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 i="0">
                <a:solidFill>
                  <a:srgbClr val="808080"/>
                </a:solidFill>
                <a:latin typeface="Calibri"/>
              </a:rPr>
              <a:t>DEĞİŞMİYOR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50" b="1" i="0">
                <a:solidFill>
                  <a:srgbClr val="1F3864"/>
                </a:solidFill>
                <a:latin typeface="Calibri"/>
              </a:rPr>
              <a:t>Mevcut sistemler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808080"/>
                </a:solidFill>
                <a:latin typeface="Calibri"/>
              </a:rPr>
              <a:t>servis · veri · yetki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Kredi, mevduat, operasyon servisleri; Oracle; WildFly. Tek satırı değişmiyor.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70332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Calibri"/>
              </a:rPr>
              <a:t>Boştaki uç takıldığında uygulama üç şey sunabilir: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977639"/>
            <a:ext cx="2651760" cy="658368"/>
          </a:xfrm>
          <a:prstGeom prst="roundRect">
            <a:avLst>
              <a:gd name="adj" fmla="val 4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5448" rIns="155448" tIns="118872" bIns="118872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F3864"/>
                </a:solidFill>
                <a:latin typeface="Calibri"/>
              </a:rPr>
              <a:t>Tool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95959"/>
                </a:solidFill>
                <a:latin typeface="Calibri"/>
              </a:rPr>
              <a:t>çağrılabilir işlem — «başvuru durumunu sorgula»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46120" y="3977639"/>
            <a:ext cx="2651760" cy="658368"/>
          </a:xfrm>
          <a:prstGeom prst="roundRect">
            <a:avLst>
              <a:gd name="adj" fmla="val 4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5448" rIns="155448" tIns="118872" bIns="118872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F3864"/>
                </a:solidFill>
                <a:latin typeface="Calibri"/>
              </a:rPr>
              <a:t>Resource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95959"/>
                </a:solidFill>
                <a:latin typeface="Calibri"/>
              </a:rPr>
              <a:t>okunabilir içerik — «ürün şartnamesi», «mevzuat»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3977639"/>
            <a:ext cx="2651760" cy="658368"/>
          </a:xfrm>
          <a:prstGeom prst="roundRect">
            <a:avLst>
              <a:gd name="adj" fmla="val 4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5448" rIns="155448" tIns="118872" bIns="118872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F3864"/>
                </a:solidFill>
                <a:latin typeface="Calibri"/>
              </a:rPr>
              <a:t>Prompt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95959"/>
                </a:solidFill>
                <a:latin typeface="Calibri"/>
              </a:rPr>
              <a:t>hazır şablon — «müşteri özeti çıkar»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937760"/>
            <a:ext cx="8229600" cy="777240"/>
          </a:xfrm>
          <a:prstGeom prst="roundRect">
            <a:avLst>
              <a:gd name="adj" fmla="val 4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5448" rIns="155448" tIns="118872" bIns="11887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F3864"/>
                </a:solidFill>
                <a:latin typeface="Calibri"/>
              </a:rPr>
              <a:t>Yeni bir asistan almıyoruz. Var olan asistanı kendi sistemlerimize takıyoruz.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2E75B6"/>
                </a:solidFill>
                <a:latin typeface="Calibri"/>
              </a:rPr>
              <a:t>Sıradaki soru kaçınılmaz: bu boştaki ucu kim, nerede ve hangi dille yazacak?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1323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E75B6"/>
                </a:solidFill>
                <a:latin typeface="Calibri"/>
              </a:rPr>
              <a:t>③  KİM YAZACAK — finans kurumunda asıl soru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F3864"/>
                </a:solidFill>
                <a:latin typeface="Calibri"/>
              </a:rPr>
              <a:t>Yetki Nerede Duruyorsa, Kod Orada Yazılır</a:t>
            </a:r>
          </a:p>
        </p:txBody>
      </p:sp>
      <p:sp>
        <p:nvSpPr>
          <p:cNvPr id="4" name="Oval 3"/>
          <p:cNvSpPr/>
          <p:nvPr/>
        </p:nvSpPr>
        <p:spPr>
          <a:xfrm>
            <a:off x="8028431" y="384048"/>
            <a:ext cx="109728" cy="109728"/>
          </a:xfrm>
          <a:prstGeom prst="ellipse">
            <a:avLst/>
          </a:prstGeom>
          <a:solidFill>
            <a:srgbClr val="D6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11311" y="384048"/>
            <a:ext cx="109728" cy="109728"/>
          </a:xfrm>
          <a:prstGeom prst="ellipse">
            <a:avLst/>
          </a:prstGeom>
          <a:solidFill>
            <a:srgbClr val="D6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394192" y="384048"/>
            <a:ext cx="109728" cy="10972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77072" y="384048"/>
            <a:ext cx="109728" cy="109728"/>
          </a:xfrm>
          <a:prstGeom prst="ellipse">
            <a:avLst/>
          </a:prstGeom>
          <a:solidFill>
            <a:srgbClr val="D6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808080"/>
                </a:solidFill>
                <a:latin typeface="Calibri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188720"/>
            <a:ext cx="3977639" cy="3520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5448" rIns="155448" tIns="118872" bIns="118872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E75B6"/>
                </a:solidFill>
                <a:latin typeface="Calibri"/>
              </a:rPr>
              <a:t>NEDEN JAVA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950" b="0" i="0">
                <a:solidFill>
                  <a:srgbClr val="595959"/>
                </a:solidFill>
                <a:latin typeface="Calibri"/>
              </a:rPr>
              <a:t>protokol dil bağımsız olduğu hâlde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F3864"/>
                </a:solidFill>
                <a:latin typeface="Calibri"/>
              </a:rPr>
              <a:t>▪  Yetki ikinci kez yazılmaz</a:t>
            </a:r>
          </a:p>
          <a:p>
            <a:pPr algn="l" marL="201168" indent="0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MCP server uygulamanın İÇİNDE çalışır. İstek mevcut JWT token'ıyla, mevcut filtre zincirinden geçer: kullanıcının bugün göremediğini asistan da göremez.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F3864"/>
                </a:solidFill>
                <a:latin typeface="Calibri"/>
              </a:rPr>
              <a:t>▪  İş kuralı tek yerde kalır</a:t>
            </a:r>
          </a:p>
          <a:p>
            <a:pPr algn="l" marL="201168" indent="0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Servis zaten Java'da; MCP server aynı sınıfı çağırır. Kural kopyalanmaz.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F3864"/>
                </a:solidFill>
                <a:latin typeface="Calibri"/>
              </a:rPr>
              <a:t>▪  Mevcut altyapı aynen kullanılır</a:t>
            </a:r>
          </a:p>
          <a:p>
            <a:pPr algn="l" marL="201168" indent="0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WildFly, JNDI datasource, stored procedure'ler, loglama. Yeni çalışma ortamı kurulmaz.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1">
                <a:solidFill>
                  <a:srgbClr val="2E75B6"/>
                </a:solidFill>
                <a:latin typeface="Calibri"/>
              </a:rPr>
              <a:t>Python ya da Node ile de yazılabilirdi — ama o zaman yetki doğrulamasını ve iş kuralını ikinci kez yazardık.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59" y="1188720"/>
            <a:ext cx="3977639" cy="3520440"/>
          </a:xfrm>
          <a:prstGeom prst="roundRect">
            <a:avLst>
              <a:gd name="adj" fmla="val 4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5448" rIns="155448" tIns="118872" bIns="118872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E75B6"/>
                </a:solidFill>
                <a:latin typeface="Calibri"/>
              </a:rPr>
              <a:t>NEDEN TEK PLATFORM (zeus-ai-mcp)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950" b="0" i="0">
                <a:solidFill>
                  <a:srgbClr val="595959"/>
                </a:solidFill>
                <a:latin typeface="Calibri"/>
              </a:rPr>
              <a:t>her ekip kendi çözümünü yazmasın diye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0" i="0">
                <a:solidFill>
                  <a:srgbClr val="595959"/>
                </a:solidFill>
                <a:latin typeface="Calibri"/>
              </a:rPr>
              <a:t>8 uygulama kendi başına yazarsa: 8 farklı yetki yorumu, 8 ayrı güvenlik yüzeyi, 8 ayrı sürüm ve CVE takibi. Bir tanesi yanlış yaparsa haber kurumun adına çıkar.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 i="0">
                <a:solidFill>
                  <a:srgbClr val="1F3864"/>
                </a:solidFill>
                <a:latin typeface="Calibri"/>
              </a:rPr>
              <a:t>Platform katmanı bunu bir kez, doğru şekilde yapar. Uygulama ekibinin işi üç adıma iner: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F3864"/>
                </a:solidFill>
                <a:latin typeface="Calibri"/>
              </a:rPr>
              <a:t>1.  Bağımlılığı ekler</a:t>
            </a:r>
          </a:p>
          <a:p>
            <a:pPr algn="l" marL="201168" indent="0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zeus-ai-mcp — sürümü platform yönetir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F3864"/>
                </a:solidFill>
                <a:latin typeface="Calibri"/>
              </a:rPr>
              <a:t>2.  İşaretler ve yayınlar</a:t>
            </a:r>
          </a:p>
          <a:p>
            <a:pPr algn="l" marL="201168" indent="0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2E75B6"/>
                </a:solidFill>
                <a:latin typeface="Consolas"/>
              </a:rPr>
              <a:t>@Tool("...") · ZeusMcpTools.of(araclar)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F3864"/>
                </a:solidFill>
                <a:latin typeface="Calibri"/>
              </a:rPr>
              <a:t>3.  Deploy eder</a:t>
            </a:r>
          </a:p>
          <a:p>
            <a:pPr algn="l" marL="201168" indent="0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yeni sunucu, yeni ekran, yeni hat yok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56048"/>
            <a:ext cx="8229600" cy="777240"/>
          </a:xfrm>
          <a:prstGeom prst="roundRect">
            <a:avLst>
              <a:gd name="adj" fmla="val 4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5448" rIns="155448" tIns="118872" bIns="11887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F3864"/>
                </a:solidFill>
                <a:latin typeface="Calibri"/>
              </a:rPr>
              <a:t>İki söz verdik: yetki bizim elimizde kalacak, protokol standart olacak.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2E75B6"/>
                </a:solidFill>
                <a:latin typeface="Calibri"/>
              </a:rPr>
              <a:t>Peki bu sözleri tutabileceğimiz altyapıyı neyin üstüne kuracağız?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1323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E75B6"/>
                </a:solidFill>
                <a:latin typeface="Calibri"/>
              </a:rPr>
              <a:t>④  NEYİN ÜSTÜNE — ve asıl karar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F3864"/>
                </a:solidFill>
                <a:latin typeface="Calibri"/>
              </a:rPr>
              <a:t>Verdiğimiz İki Sözü Hangi Sürüm Tutabiliyor?</a:t>
            </a:r>
          </a:p>
        </p:txBody>
      </p:sp>
      <p:sp>
        <p:nvSpPr>
          <p:cNvPr id="4" name="Oval 3"/>
          <p:cNvSpPr/>
          <p:nvPr/>
        </p:nvSpPr>
        <p:spPr>
          <a:xfrm>
            <a:off x="8028431" y="384048"/>
            <a:ext cx="109728" cy="109728"/>
          </a:xfrm>
          <a:prstGeom prst="ellipse">
            <a:avLst/>
          </a:prstGeom>
          <a:solidFill>
            <a:srgbClr val="D6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11311" y="384048"/>
            <a:ext cx="109728" cy="109728"/>
          </a:xfrm>
          <a:prstGeom prst="ellipse">
            <a:avLst/>
          </a:prstGeom>
          <a:solidFill>
            <a:srgbClr val="D6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394192" y="384048"/>
            <a:ext cx="109728" cy="109728"/>
          </a:xfrm>
          <a:prstGeom prst="ellipse">
            <a:avLst/>
          </a:prstGeom>
          <a:solidFill>
            <a:srgbClr val="D6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77072" y="384048"/>
            <a:ext cx="109728" cy="10972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808080"/>
                </a:solidFill>
                <a:latin typeface="Calibri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188720"/>
            <a:ext cx="8229600" cy="566928"/>
          </a:xfrm>
          <a:prstGeom prst="roundRect">
            <a:avLst>
              <a:gd name="adj" fmla="val 4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5448" rIns="155448" tIns="118872" bIns="11887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SINAV:   ① Yetki ve denetim kaydı bizim elimizde kalacak      ②  MCP'yi güncel spesifikasyon sürümüyle konuşacağız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1">
                <a:solidFill>
                  <a:srgbClr val="9DC3E6"/>
                </a:solidFill>
                <a:latin typeface="Calibri"/>
              </a:rPr>
              <a:t>Spring AI'ın iki hattını bu iki sözle sınadık — «yeni olan iyidir» diye değil.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920240"/>
            <a:ext cx="3977639" cy="2423160"/>
          </a:xfrm>
          <a:prstGeom prst="roundRect">
            <a:avLst>
              <a:gd name="adj" fmla="val 4000"/>
            </a:avLst>
          </a:prstGeom>
          <a:solidFill>
            <a:srgbClr val="F9ECEA"/>
          </a:solidFill>
          <a:ln w="9525">
            <a:solidFill>
              <a:srgbClr val="E8C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5448" rIns="155448" tIns="118872" bIns="118872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A03A34"/>
                </a:solidFill>
                <a:latin typeface="Calibri"/>
              </a:rPr>
              <a:t>Spring AI 1.x  —  eledik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6B2E2A"/>
                </a:solidFill>
                <a:latin typeface="Calibri"/>
              </a:rPr>
              <a:t>✗   ① Tool calling döngüsü kütüphanenin İÇİNE GÖMÜLÜ — servlet filtresi ekler gibi araya kendi halkamızı koyamıyoruz. Birinci sözü tutamıyoruz.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6B2E2A"/>
                </a:solidFill>
                <a:latin typeface="Calibri"/>
              </a:rPr>
              <a:t>✗   ② MCP desteği toplulukta ve spesifikasyonun ESKİ TARİHLİ sürümünde: standart yetkilendirme ve streamable HTTP yok. İkinci sözü tutamıyoruz.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6B2E2A"/>
                </a:solidFill>
                <a:latin typeface="Calibri"/>
              </a:rPr>
              <a:t>✗   Üstelik temeli Spring Boot 3.5 — Boot 4 platformumuzda hiç yüklenmiyor.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6B2E2A"/>
                </a:solidFill>
                <a:latin typeface="Calibri"/>
              </a:rPr>
              <a:t>✗   Ve Haziran 2026'da destek dışı kaldı: yeni güvenlik yaması gelmiyor.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59" y="1920240"/>
            <a:ext cx="3977639" cy="2423160"/>
          </a:xfrm>
          <a:prstGeom prst="roundRect">
            <a:avLst>
              <a:gd name="adj" fmla="val 4000"/>
            </a:avLst>
          </a:prstGeom>
          <a:solidFill>
            <a:srgbClr val="EAF3EA"/>
          </a:solidFill>
          <a:ln w="9525">
            <a:solidFill>
              <a:srgbClr val="C3DD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5448" rIns="155448" tIns="118872" bIns="118872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2E6B2E"/>
                </a:solidFill>
                <a:latin typeface="Calibri"/>
              </a:rPr>
              <a:t>Spring AI 2.x  —  seçtik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84F28"/>
                </a:solidFill>
                <a:latin typeface="Calibri"/>
              </a:rPr>
              <a:t>✓   ① Tool calling döngüsü ADVISOR ZİNCİRİNDE — servlet filtre zinciri gibi araya kendi halkamızı ekliyoruz: yetki, denetim kaydı, kota. Birinci söz tutuluyor.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84F28"/>
                </a:solidFill>
                <a:latin typeface="Calibri"/>
              </a:rPr>
              <a:t>✓   ② MCP kütüphanenin çekirdeğinde: spesifikasyonun 2025‑11‑25 sürümü, resmî Java SDK 2.0. İkinci söz tutuluyor.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84F28"/>
                </a:solidFill>
                <a:latin typeface="Calibri"/>
              </a:rPr>
              <a:t>✓   Temeli Spring Boot 4 · Java 25 — Zeus 2.0.0 platformumuzla birebir aynı.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84F28"/>
                </a:solidFill>
                <a:latin typeface="Calibri"/>
              </a:rPr>
              <a:t>✓   Aktif destek hattı; kurumsal kullanımda tek makul seçenek.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663440"/>
            <a:ext cx="8229600" cy="822960"/>
          </a:xfrm>
          <a:prstGeom prst="roundRect">
            <a:avLst>
              <a:gd name="adj" fmla="val 4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5448" rIns="155448" tIns="118872" bIns="11887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F3864"/>
                </a:solidFill>
                <a:latin typeface="Calibri"/>
              </a:rPr>
              <a:t>1.x'i «eski olduğu için» elemedik: bu sunumda verdiğimiz iki sözü teknik olarak tutamadığı için eledik.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2E75B6"/>
                </a:solidFill>
                <a:latin typeface="Calibri"/>
              </a:rPr>
              <a:t>Karar aslında geçen çeyrekte verilmişti — Boot 4'e geçmeseydik bu kapı bugün kapalıydı.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1323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E75B6"/>
                </a:solidFill>
                <a:latin typeface="Calibri"/>
              </a:rPr>
              <a:t>KAPANIŞ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F3864"/>
                </a:solidFill>
                <a:latin typeface="Calibri"/>
              </a:rPr>
              <a:t>Hikâyeyi Baştan Alalım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808080"/>
                </a:solidFill>
                <a:latin typeface="Calibri"/>
              </a:rP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07008"/>
            <a:ext cx="8229600" cy="658368"/>
          </a:xfrm>
          <a:prstGeom prst="roundRect">
            <a:avLst>
              <a:gd name="adj" fmla="val 4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5448" rIns="155448" tIns="118872" bIns="11887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F3864"/>
                </a:solidFill>
                <a:latin typeface="Calibri"/>
              </a:rPr>
              <a:t>①   Asistan bizim verimizi bilmiyordu; her soru ayrı bir projeye dönüşüyordu.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38528"/>
            <a:ext cx="8229600" cy="658368"/>
          </a:xfrm>
          <a:prstGeom prst="roundRect">
            <a:avLst>
              <a:gd name="adj" fmla="val 4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5448" rIns="155448" tIns="118872" bIns="11887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F3864"/>
                </a:solidFill>
                <a:latin typeface="Calibri"/>
              </a:rPr>
              <a:t>②   Çözüm ortak bir dil: MCP. Asistan ucu takılı, uygulama ucu boşta.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70048"/>
            <a:ext cx="8229600" cy="658368"/>
          </a:xfrm>
          <a:prstGeom prst="roundRect">
            <a:avLst>
              <a:gd name="adj" fmla="val 4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5448" rIns="155448" tIns="118872" bIns="11887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F3864"/>
                </a:solidFill>
                <a:latin typeface="Calibri"/>
              </a:rPr>
              <a:t>③   O ucu Java'da, uygulamanın içinde yazıyoruz — yetki orada duruyor. Ve her ekip ayrı ayrı değil, tek platform katmanında.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401568"/>
            <a:ext cx="8229600" cy="658368"/>
          </a:xfrm>
          <a:prstGeom prst="roundRect">
            <a:avLst>
              <a:gd name="adj" fmla="val 4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5448" rIns="155448" tIns="118872" bIns="11887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F3864"/>
                </a:solidFill>
                <a:latin typeface="Calibri"/>
              </a:rPr>
              <a:t>④   Bu katmanı Spring AI 2.x üzerine kuruyoruz; 1.x verdiğimiz sözleri tutamıyordu.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206240"/>
            <a:ext cx="8229600" cy="960120"/>
          </a:xfrm>
          <a:prstGeom prst="roundRect">
            <a:avLst>
              <a:gd name="adj" fmla="val 4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5448" rIns="155448" tIns="118872" bIns="11887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9DC3E6"/>
                </a:solidFill>
                <a:latin typeface="Calibri"/>
              </a:rPr>
              <a:t>İŞİN TANIMI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zeus-ai-mcp: kurumsal uygulamalarımızın yeteneklerini — yetkiyi kendi elimizde tutarak — asistana açan platform katmanı.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4068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Calibri"/>
              </a:rPr>
              <a:t>Bu katman kurulduğunda yapay zekâ, bir uygulamanın özelliği olmaktan çıkıp platformun yeteneği olur.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1">
                <a:solidFill>
                  <a:srgbClr val="595959"/>
                </a:solidFill>
                <a:latin typeface="Calibri"/>
              </a:rPr>
              <a:t>Bugün bir talebimiz yok. Yönü paylaşmaya ve görüşünüzü almaya geldik.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