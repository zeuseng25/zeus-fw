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[KAPAK — ~1 dk]</a:t>
            </a:r>
          </a:p>
          <a:p/>
          <a:p>
            <a:r>
              <a:t>AÇILIŞ</a:t>
            </a:r>
          </a:p>
          <a:p>
            <a:r>
              <a:t>"Bugün yeni bir yapay zekâ ürünü önermeye gelmedim. Elimizdeki parçaların birbirine nasıl</a:t>
            </a:r>
          </a:p>
          <a:p>
            <a:r>
              <a:t>bağlanacağını konuşacağız. Dört slayt, on beş dakika."</a:t>
            </a:r>
          </a:p>
          <a:p/>
          <a:p>
            <a:r>
              <a:t>ÇERÇEVE — üç cümlede konum:</a:t>
            </a:r>
          </a:p>
          <a:p>
            <a:r>
              <a:t>• Model erişimi var (kurum içi gateway çalışıyor).</a:t>
            </a:r>
          </a:p>
          <a:p>
            <a:r>
              <a:t>• Chat uygulaması var ve MCP client tarafını konuşuyor.</a:t>
            </a:r>
          </a:p>
          <a:p>
            <a:r>
              <a:t>• Eksik olan: iş uygulamalarının kendi yeteneklerini asistana açtığı taraf — MCP server.</a:t>
            </a:r>
          </a:p>
          <a:p/>
          <a:p>
            <a:r>
              <a:t>TON: Bu bir "yatırım talebi" sunumu değil, "mimari yön" sunumu. Talep slaytı bilinçli olarak yok.</a:t>
            </a:r>
          </a:p>
          <a:p>
            <a:r>
              <a:t>Dinleyici yazılım/altyapı kökenli — kavramları basitleştirip geçmeyin, teknik soruya hazır olun.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[MCP CLIENT / SERVER — ~4 dk. Sunumun kavram slaydı; buradan kopan sonrasını takip edemez.]</a:t>
            </a:r>
          </a:p>
          <a:p/>
          <a:p>
            <a:r>
              <a:t>ANLATIM SIRASI</a:t>
            </a:r>
          </a:p>
          <a:p>
            <a:r>
              <a:t>1) Soldan başla: "Chat uygulamamız MCP client. Bu yeni bir şey değil, bugün çalışıyor."</a:t>
            </a:r>
          </a:p>
          <a:p>
            <a:r>
              <a:t>2) Ortaya geç: "Protokolün diğer ucu boş. Kredi, mevduat, operasyon uygulamalarımız asistana</a:t>
            </a:r>
          </a:p>
          <a:p>
            <a:r>
              <a:t>   'ben şunu yapabilirim' diyemiyor."</a:t>
            </a:r>
          </a:p>
          <a:p>
            <a:r>
              <a:t>3) Sağı hızlı geç: "Arkadaki sistemler değişmiyor — bu önemli, birazdan yetki kısmında döneceğiz."</a:t>
            </a:r>
          </a:p>
          <a:p/>
          <a:p>
            <a:r>
              <a:t>TEKNİK ZEMİN (soru gelirse; sormazlarsa girmeyin)</a:t>
            </a:r>
          </a:p>
          <a:p>
            <a:r>
              <a:t>• MCP, JSON-RPC 2.0 üzerine kurulu bir protokol. Taşıma: stdio (yerel süreç) veya HTTP.</a:t>
            </a:r>
          </a:p>
          <a:p>
            <a:r>
              <a:t>  Spring AI 2.0'da streamable HTTP varsayılan; eski SSE taşıması artık önerilmiyor.</a:t>
            </a:r>
          </a:p>
          <a:p>
            <a:r>
              <a:t>• Keşif protokolün parçası: client sunucuya "hangi yeteneklerin var" diye sorar (tools/list),</a:t>
            </a:r>
          </a:p>
          <a:p>
            <a:r>
              <a:t>  sunucu yetenekleri JSON Schema ile tarif eder, model buna bakarak çağrıyı kurar.</a:t>
            </a:r>
          </a:p>
          <a:p>
            <a:r>
              <a:t>  SONUÇ: yeni yetenek eklendiğinde CLIENT TARAFINDA KOD DEĞİŞMEZ. Slaydın asıl mesajı bu.</a:t>
            </a:r>
          </a:p>
          <a:p>
            <a:r>
              <a:t>• Üç birincil yapı: tool (çağrılabilir işlem — yan etkisi olabilir), resource (salt okunur içerik),</a:t>
            </a:r>
          </a:p>
          <a:p>
            <a:r>
              <a:t>  prompt (hazır şablon). Biz önce tool ile başlayacağız; resource, doküman senaryosunda gelir.</a:t>
            </a:r>
          </a:p>
          <a:p/>
          <a:p>
            <a:r>
              <a:t>BEKLENEN SORU — "Bunun REST'ten farkı ne?"</a:t>
            </a:r>
          </a:p>
          <a:p>
            <a:r>
              <a:t>CEVAP: "REST'te istemcinin adresi, sözleşmeyi ve alan adlarını önceden bilmesi gerekir; entegrasyon</a:t>
            </a:r>
          </a:p>
          <a:p>
            <a:r>
              <a:t>derleme zamanında kurulur. MCP'de sözleşme çalışma zamanında sunucudan gelir. Yani REST'in yerine</a:t>
            </a:r>
          </a:p>
          <a:p>
            <a:r>
              <a:t>geçmiyor — REST servisimizin önüne, modelin okuyabileceği standart bir tanıtım katmanı koyuyor.</a:t>
            </a:r>
          </a:p>
          <a:p>
            <a:r>
              <a:t>Altta yine bizim servisimiz çalışıyor."</a:t>
            </a:r>
          </a:p>
          <a:p/>
          <a:p>
            <a:r>
              <a:t>BEKLENEN SORU — "Standart mı, yoksa tek firmanın işi mi?"</a:t>
            </a:r>
          </a:p>
          <a:p>
            <a:r>
              <a:t>CEVAP: "Açık spesifikasyon; Spring AI 2.0 bunu resmî Java SDK 2.0 ile ve 2025-11-25 tarihli</a:t>
            </a:r>
          </a:p>
          <a:p>
            <a:r>
              <a:t>spesifikasyon sürümüyle uyguluyor. Yani biz protokolü değil, protokolün Spring uygulamasını kullanıyoruz."</a:t>
            </a:r>
          </a:p>
          <a:p/>
          <a:p>
            <a:r>
              <a:t>TUZAK: "USB" benzetmesini bir kez kullanın, ikinci kez tekrarlamayın — teknik dinleyicide</a:t>
            </a:r>
          </a:p>
          <a:p>
            <a:r>
              <a:t>benzetmeyi fazla eşelemek ciddiyet kaybettirir.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[KURMAZSAK / KURARSAK — ~4 dk. Karar slaydı.]</a:t>
            </a:r>
          </a:p>
          <a:p/>
          <a:p>
            <a:r>
              <a:t>ANLATIM</a:t>
            </a:r>
          </a:p>
          <a:p>
            <a:r>
              <a:t>Sol paneli hızlı, sağ paneli yavaş okuyun. Sol panelde en güçlü madde SONUNCUSU:</a:t>
            </a:r>
          </a:p>
          <a:p>
            <a:r>
              <a:t>"İhtiyaç yok olmaz — kullanıcı kurum dışı araçlara yönelir." Burada bir saniye durun.</a:t>
            </a:r>
          </a:p>
          <a:p>
            <a:r>
              <a:t>Bu, riski "yapmama riski" olarak çerçeveler; asıl ikna edici olan budur.</a:t>
            </a:r>
          </a:p>
          <a:p/>
          <a:p>
            <a:r>
              <a:t>SAYIYA DÖKÜN (tahtada/elde): "N uygulama × M asistan yerine N + M."</a:t>
            </a:r>
          </a:p>
          <a:p>
            <a:r>
              <a:t>Örnek: 6 uygulama, 2 asistan arayüzü → 12 ayrı entegrasyon yerine 8 bildirim.</a:t>
            </a:r>
          </a:p>
          <a:p/>
          <a:p>
            <a:r>
              <a:t>BEKLENEN SORU — "Bunu bugün tool calling ile zaten yapamıyor muyuz?"</a:t>
            </a:r>
          </a:p>
          <a:p>
            <a:r>
              <a:t>CEVAP (kritik, hazırlıklı olun): "Yapıyoruz — zeus-ai ile aynı uygulamanın içinde tool çağırıyoruz</a:t>
            </a:r>
          </a:p>
          <a:p>
            <a:r>
              <a:t>ve bu çalışıyor. Fark şu: o tool'lar çağıran uygulamanın içinde tanımlı. Kredi uygulamasının</a:t>
            </a:r>
          </a:p>
          <a:p>
            <a:r>
              <a:t>yeteneğini chat uygulamasına açmak için bugün CHAT uygulamasına kod yazmak gerekiyor.</a:t>
            </a:r>
          </a:p>
          <a:p>
            <a:r>
              <a:t>MCP bunu tersine çeviriyor: yeteneğin sahibi olan uygulama bildiriyor, asistan keşfediyor.</a:t>
            </a:r>
          </a:p>
          <a:p>
            <a:r>
              <a:t>Yani tool calling 'uygulama içi', MCP 'uygulamalar arası'."</a:t>
            </a:r>
          </a:p>
          <a:p/>
          <a:p>
            <a:r>
              <a:t>BEKLENEN SORU — "Performans ne olacak?"</a:t>
            </a:r>
          </a:p>
          <a:p>
            <a:r>
              <a:t>CEVAP: "Bir tool çağrısı en az iki model turu demek: model aracı seçer, araç çalışır, sonuç modele</a:t>
            </a:r>
          </a:p>
          <a:p>
            <a:r>
              <a:t>geri döner. Kendi ölçümlerimizde uçtan uca 2,4 saniyeden 35 saniyeye kadar değişti — model ve tur</a:t>
            </a:r>
          </a:p>
          <a:p>
            <a:r>
              <a:t>sayısına göre. Bu, senkron kullanıcı akışları için gerçek bir tasarım kısıtı: zaman aşımı ve</a:t>
            </a:r>
          </a:p>
          <a:p>
            <a:r>
              <a:t>kullanıcı beklentisi buna göre kurgulanmalı. Ölçüm noktalarını baştan koyuyoruz."</a:t>
            </a:r>
          </a:p>
          <a:p/>
          <a:p>
            <a:r>
              <a:t>BEKLENEN SORU — "Maliyet?"</a:t>
            </a:r>
          </a:p>
          <a:p>
            <a:r>
              <a:t>CEVAP: "Platform katmanı bir kez kuruluyor. İkinci ve üçüncü uygulamanın marjinal maliyeti</a:t>
            </a:r>
          </a:p>
          <a:p>
            <a:r>
              <a:t>birkaç anotasyon. Ölçütümüz: yetenek başına geliştirme günü."</a:t>
            </a:r>
          </a:p>
          <a:p/>
          <a:p>
            <a:r>
              <a:t>RİSK — kendiniz açın, sormalarını beklemeyin:</a:t>
            </a:r>
          </a:p>
          <a:p>
            <a:r>
              <a:t>"Prompt injection gerçek bir risk. Bu yüzden veri DEĞİŞTİREN tool'larda yetki kontrolü tool'un</a:t>
            </a:r>
          </a:p>
          <a:p>
            <a:r>
              <a:t>içinde olacak, modelin kararına bırakılmayacak. İlk fazda yalnızca salt-okunur yetenekler açılacak."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[TEKNİK YÖN / NEDEN JAVA — ~4 dk. Bu odadaki en teknik slayt; en çok soru buradan gelir.]</a:t>
            </a:r>
          </a:p>
          <a:p/>
          <a:p>
            <a:r>
              <a:t>SOL PANEL</a:t>
            </a:r>
          </a:p>
          <a:p>
            <a:r>
              <a:t>"Uygulama ekibi MCP spesifikasyonu okumayacak. Bağımlılığı ekleyecek, zaten var olan servis</a:t>
            </a:r>
          </a:p>
          <a:p>
            <a:r>
              <a:t>metodunun üstüne bir anotasyon koyacak, deploy edecek."</a:t>
            </a:r>
          </a:p>
          <a:p>
            <a:r>
              <a:t>Spring AI 2.0 tarafında karşılığı: spring-ai-starter-mcp-server-webmvc ve @McpTool / @McpResource /</a:t>
            </a:r>
          </a:p>
          <a:p>
            <a:r>
              <a:t>@McpPrompt anotasyonları. Bunları zeus-ai'nin arkasına alacağız.</a:t>
            </a:r>
          </a:p>
          <a:p/>
          <a:p>
            <a:r>
              <a:t>SAĞ PANEL — argümanın kurgusuna dikkat:</a:t>
            </a:r>
          </a:p>
          <a:p>
            <a:r>
              <a:t>Karşı seçeneği ÖNCE kabul edin: "Protokol dil bağımsız; Python veya Node ile de yazılabilirdi."</a:t>
            </a:r>
          </a:p>
          <a:p>
            <a:r>
              <a:t>Sonra maliyetini gösterin. Bu sırayı bozmayın — "Java daha iyi dil" demeye kalkarsanız bu odada</a:t>
            </a:r>
          </a:p>
          <a:p>
            <a:r>
              <a:t>haklı olarak itiraz alırsınız.</a:t>
            </a:r>
          </a:p>
          <a:p/>
          <a:p>
            <a:r>
              <a:t>EN GÜÇLÜ MADDE — YETKİ (buraya en çok zamanı ayırın):</a:t>
            </a:r>
          </a:p>
          <a:p>
            <a:r>
              <a:t>"WebMVC taşıması, MCP sunucusunu uygulamanın kendi servlet yığınının içinde çalıştırıyor.</a:t>
            </a:r>
          </a:p>
          <a:p>
            <a:r>
              <a:t>Yani istek WildFly'daki WAR'ın içine, mevcut filtre zincirinden geçerek giriyor: JWT doğrulaması,</a:t>
            </a:r>
          </a:p>
          <a:p>
            <a:r>
              <a:t>rol kontrolü, oturum bağlamı — hepsi bugünkü haliyle. Kullanıcının bugün göremediği veriyi</a:t>
            </a:r>
          </a:p>
          <a:p>
            <a:r>
              <a:t>asistan da göremiyor. Ayrı bir dilde ayrı bir servis yazsaydık JWT doğrulamasını, imza/JWKS</a:t>
            </a:r>
          </a:p>
          <a:p>
            <a:r>
              <a:t>yönetimini ve rol eşlemesini İKİNCİ KEZ yazacaktık; üstelik iş kuralına ulaşmak için yine bizim</a:t>
            </a:r>
          </a:p>
          <a:p>
            <a:r>
              <a:t>servisimize çağrı yapacaktı — iki atlama, iki hata noktası, iki bakım yeri."</a:t>
            </a:r>
          </a:p>
          <a:p/>
          <a:p>
            <a:r>
              <a:t>DÜRÜSTLÜK NOTU (kendinize): zeus-fw'da bugün JWT/Spring Security modülü YOK; bu, kurulacak yapının</a:t>
            </a:r>
          </a:p>
          <a:p>
            <a:r>
              <a:t>tasarım ilkesi. Soru gelirse: "MCP sunucusu uygulamanın içinde çalışacağı için uygulamanın kendi</a:t>
            </a:r>
          </a:p>
          <a:p>
            <a:r>
              <a:t>güvenlik zinciri geçerli olacak" deyin — "hazır ve çalışıyor" demeyin.</a:t>
            </a:r>
          </a:p>
          <a:p/>
          <a:p>
            <a:r>
              <a:t>BEKLENEN SORU — "Neden her uygulama kendi sunucusu? Merkezî tek MCP sunucusu kurmayalım mı?"</a:t>
            </a:r>
          </a:p>
          <a:p>
            <a:r>
              <a:t>CEVAP: "Kurabiliriz ama o zaman yetki ve iş kuralı merkeze taşınır; tam kaçındığımız şey bu.</a:t>
            </a:r>
          </a:p>
          <a:p>
            <a:r>
              <a:t>Uygulama sayısı arttığında merkezî bir MCP ağ geçidi (keşif, kota, kayıt) ayrıca konuşulabilir —</a:t>
            </a:r>
          </a:p>
          <a:p>
            <a:r>
              <a:t>ama yeteneğin kendisi, sahibinin yanında kalmalı."</a:t>
            </a:r>
          </a:p>
          <a:p/>
          <a:p>
            <a:r>
              <a:t>BEKLENEN SORU — "WildFly'a nasıl oturuyor?"</a:t>
            </a:r>
          </a:p>
          <a:p>
            <a:r>
              <a:t>CEVAP: "Bugünkü paketleme değişmiyor: zeus jar'ları ince WAR'ın içinde, üçüncü parti kütüphaneler</a:t>
            </a:r>
          </a:p>
          <a:p>
            <a:r>
              <a:t>paylaşımlı com.zeus module'ünde — Spring AI eklendiğinde module 157 jar'a çıktı, WAR 66 KB kaldı.</a:t>
            </a:r>
          </a:p>
          <a:p>
            <a:r>
              <a:t>Somut bir örnek: module'e spring-webflux girdiğinde WildFly'ın anotasyon taraması jakarta.websocket</a:t>
            </a:r>
          </a:p>
          <a:p>
            <a:r>
              <a:t>API'sini göremediği için deploy düştü; module tanımına ekleyip çözdük. Yani bu yolu gerçekten</a:t>
            </a:r>
          </a:p>
          <a:p>
            <a:r>
              <a:t>yürüdük, slaytta teorik konuşmuyoruz."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[SÜRÜM KARARI — ~3 dk. Kapanış slaydı; kararın çoktan verilmiş olduğunu hissettirin.]</a:t>
            </a:r>
          </a:p>
          <a:p/>
          <a:p>
            <a:r>
              <a:t>ANA MESAJ</a:t>
            </a:r>
          </a:p>
          <a:p>
            <a:r>
              <a:t>"Bu bir tercih değil, zorunluluktu — ve iyi ki geçen çeyrekte Boot 4'e geçmiştik."</a:t>
            </a:r>
          </a:p>
          <a:p>
            <a:r>
              <a:t>1.x'in temeli Spring Boot 3.5; Boot 4 ortamımızda hiç yüklenmiyor. Üstelik 3.5 ile birlikte</a:t>
            </a:r>
          </a:p>
          <a:p>
            <a:r>
              <a:t>Haziran 2026'da destek dışı kaldı: yeni güvenlik yaması gelmiyor.</a:t>
            </a:r>
          </a:p>
          <a:p/>
          <a:p>
            <a:r>
              <a:t>MCP AÇISINDAN FARK (bu sunumun konusu olduğu için öne çıkarın):</a:t>
            </a:r>
          </a:p>
          <a:p>
            <a:r>
              <a:t>1.x'te MCP topluluk tarafındaydı ve eski spesifikasyonda kaldı. 2.0'da protokol kütüphanenin</a:t>
            </a:r>
          </a:p>
          <a:p>
            <a:r>
              <a:t>çekirdeğine alındı: anotasyonlar, WebMVC/WebFlux taşımaları, güncel spesifikasyon, ölçüm metrikleri</a:t>
            </a:r>
          </a:p>
          <a:p>
            <a:r>
              <a:t>ve OAuth 2.0 desteği kutunun içinde geliyor.</a:t>
            </a:r>
          </a:p>
          <a:p/>
          <a:p>
            <a:r>
              <a:t>MİMARİ AÇIDAN ASIL KAZANÇ (teknik dinleyici bunu takdir eder):</a:t>
            </a:r>
          </a:p>
          <a:p>
            <a:r>
              <a:t>"1.x'te modelin araç çağırma döngüsü kütüphanenin model sınıfının içinde kapalıydı — araya girip</a:t>
            </a:r>
          </a:p>
          <a:p>
            <a:r>
              <a:t>kendi yetki kontrolümüzü, kaydımızı veya yeniden deneme politikamızı koyamıyorduk; ancak kütüphaneyi</a:t>
            </a:r>
          </a:p>
          <a:p>
            <a:r>
              <a:t>çatallayarak müdahale edilebilirdi. 2.0 bu döngüyü dışarı çıkardı. 'Yetki ve kayıt tek yerde'</a:t>
            </a:r>
          </a:p>
          <a:p>
            <a:r>
              <a:t>diyebilmemizin teknik dayanağı bu."</a:t>
            </a:r>
          </a:p>
          <a:p/>
          <a:p>
            <a:r>
              <a:t>BEKLENEN SORU — "Sürüm çok yeni, stabil mi?"</a:t>
            </a:r>
          </a:p>
          <a:p>
            <a:r>
              <a:t>CEVAP: "Kararlı sürüm 12 Haziran 2026'da çıktı, genç. Bu yüzden uygulamaları Spring AI'a DOĞRUDAN</a:t>
            </a:r>
          </a:p>
          <a:p>
            <a:r>
              <a:t>bağlamıyoruz: araya zeus-ai'nin kendi arayüzü giriyor. Kütüphane arayüzü değişirse tek yerde</a:t>
            </a:r>
          </a:p>
          <a:p>
            <a:r>
              <a:t>değişir, N uygulamada değil. Riski platform katmanında soğuruyoruz."</a:t>
            </a:r>
          </a:p>
          <a:p/>
          <a:p>
            <a:r>
              <a:t>BEKLENEN SORU — "Neden Spring AI, başka bir kütüphane değil?"</a:t>
            </a:r>
          </a:p>
          <a:p>
            <a:r>
              <a:t>CEVAP: "Aynı sürüm ve destek takvimi, aynı bağımlılık yönetimi, Boot 4 ile birebir uyum ve ekibin</a:t>
            </a:r>
          </a:p>
          <a:p>
            <a:r>
              <a:t>zaten bildiği programlama modeli. Biz zaten Spring platformundayız; farklı bir yaşam döngüsünü</a:t>
            </a:r>
          </a:p>
          <a:p>
            <a:r>
              <a:t>ikinci bir takvim olarak taşımak istemiyoruz."</a:t>
            </a:r>
          </a:p>
          <a:p/>
          <a:p>
            <a:r>
              <a:t>KAPANIŞ CÜMLESİ</a:t>
            </a:r>
          </a:p>
          <a:p>
            <a:r>
              <a:t>"Model hazır, platform hazır. Aradaki katmanı kurduğumuzda yapay zekâ bir uygulamanın özelliği</a:t>
            </a:r>
          </a:p>
          <a:p>
            <a:r>
              <a:t>olmaktan çıkıp platformun yeteneği olur. Bugün bir talebimiz yok; yönü paylaşıp görüşünüzü almaya geldik."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7589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MCP SUNUMU  ·  ZEUS PLATFORMU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Uygulamalarımızı Asistana Bağlamak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FDDEE"/>
                </a:solidFill>
                <a:latin typeface="Calibri"/>
              </a:rPr>
              <a:t>Chat uygulamamız asistan tarafını (MCP client) zaten konuşuyor. Eksik olan, kurumsal uygulamaların kendi yeteneklerini asistana açtığı taraf: MCP server.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846320"/>
            <a:ext cx="1280160" cy="457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138928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DC3E6"/>
                </a:solidFill>
                <a:latin typeface="Calibri"/>
              </a:rPr>
              <a:t>Zeus Framework Platform  ·  Ağustos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TEMEL KAVRAM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MCP Client, MCP Server: Prizin İki Ucu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MCP (Model Context Protocol) — asistanın dış sistemleri kullanabilmesi için ortak protokol. USB gibi: bir kez standartlaşır, her cihaz her porta takılır.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2331720" cy="2121408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6B2E"/>
                </a:solidFill>
                <a:latin typeface="Calibri"/>
              </a:rPr>
              <a:t>✓  MEVCUT — çalışıyor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Chat uygulaması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2E"/>
                </a:solidFill>
                <a:latin typeface="Calibri"/>
              </a:rPr>
              <a:t>MCP CLIENT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Soruyu alır, hangi yeteneklerin var olduğunu keşfeder, gerekeni çağırır.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2871216" y="2706623"/>
            <a:ext cx="457200" cy="329184"/>
          </a:xfrm>
          <a:prstGeom prst="left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88336" y="2395727"/>
            <a:ext cx="822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MCP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810512"/>
            <a:ext cx="2331720" cy="2121408"/>
          </a:xfrm>
          <a:prstGeom prst="roundRect">
            <a:avLst>
              <a:gd name="adj" fmla="val 4000"/>
            </a:avLst>
          </a:prstGeom>
          <a:solidFill>
            <a:srgbClr val="FDF4E3"/>
          </a:solidFill>
          <a:ln w="9525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9C6F1A"/>
                </a:solidFill>
                <a:latin typeface="Calibri"/>
              </a:rPr>
              <a:t>○  EKSİK PARÇA — kuracağımız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İş uygulamalarımız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9C6F1A"/>
                </a:solidFill>
                <a:latin typeface="Calibri"/>
              </a:rPr>
              <a:t>MCP 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«Ben şunu yapabilirim» diye yeteneğini bildirir ve çağrıldığında çalıştırır.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15584" y="2706623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10512"/>
            <a:ext cx="2331720" cy="212140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808080"/>
                </a:solidFill>
                <a:latin typeface="Calibri"/>
              </a:rPr>
              <a:t>DEĞİŞMİYOR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Mevcut sistemler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08080"/>
                </a:solidFill>
                <a:latin typeface="Calibri"/>
              </a:rPr>
              <a:t>servis · veri · yetki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Kredi, mevduat, operasyon servisleri; Oracle; WildFly.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MCP server üç şey sunabilir: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07408"/>
            <a:ext cx="2651760" cy="73152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Tool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çağrılabilir işlem — «kredi başvuru durumunu sorgula»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07408"/>
            <a:ext cx="2651760" cy="73152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Resource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okunabilir veri — «ürün şartnamesi», «mevzuat metni»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07408"/>
            <a:ext cx="2651760" cy="73152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Prompt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hazır şablon — «müşteri özeti çıkar» gibi görevler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94960"/>
            <a:ext cx="8229600" cy="73152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Prizin asistan ucu takılı; iş uygulamaları ucu boşta duruyor.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Bu sunumun konusu o boş ucu takmak — yeni bir asistan almak değil.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KARAR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MCP Server Kurmazsak Ne Olur, Kurarsak Ne Değişir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977639" cy="320040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A03A34"/>
                </a:solidFill>
                <a:latin typeface="Calibri"/>
              </a:rPr>
              <a:t>KURMAZSAK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i="0">
                <a:solidFill>
                  <a:srgbClr val="A03A34"/>
                </a:solidFill>
                <a:latin typeface="Calibri"/>
              </a:rPr>
              <a:t>bugünkü tablo devam eder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Asistan kurumun verisine erişemez — genel bilgi verir, «bu müşterinin durumu ne» sorusuna cevap veremez.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Her yeni yetenek chat uygulamasının backlog'una girer; tek ekip darboğaz olur.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Her uygulama kendi entegrasyonunu baştan yazar: N uygulama × M asistan = N×M ayrı iş.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İş kuralı ve yetki mantığı ikinci kez, entegrasyon katmanında yazılır — iki yerde bakım.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İhtiyaç yok olmaz: kullanıcı kurum dışı araçlara yönelir. Veri sınırını biz belirlemeyiz.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59" y="1234440"/>
            <a:ext cx="3977639" cy="320040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C3DD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E6B2E"/>
                </a:solidFill>
                <a:latin typeface="Calibri"/>
              </a:rPr>
              <a:t>KURARSAK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i="0">
                <a:solidFill>
                  <a:srgbClr val="2E6B2E"/>
                </a:solidFill>
                <a:latin typeface="Calibri"/>
              </a:rPr>
              <a:t>yetenek, proje olmaktan çıkar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Uygulama sahip olduğu yeteneği bildirir; asistan kendiliğinden keşfeder — yeni ekran yazılmaz.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Yetenek ekleme, sprint'lik bir proje değil, mevcut servise birkaç satırlık bildirim olur.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Tek protokol: N uygulama + M asistan. Yeni asistan geldiğinde uygulamalar değişmez.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İş kuralı ve yetki uygulamanın içinde kalır — asistan yalnızca izin verileni çağırabilir.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Erişim tek noktada toplanır: kim, neyi, ne zaman sordu — denetime hazır kayıt.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800600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Altyapıyı Spring AI 2.0 hazır veriyor: MCP artık kütüphanenin çekirdeğinde — protokolü biz yazmıyoruz.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Bizim işimiz, hâlihazırda çalışan servislerimizi «bu bir yetenektir» diye işaretlemek.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TEKNİK YÖN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Uygulamalar Nasıl Geliştirecek — ve Neden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474720" cy="361188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UYGULAMA EKİBİNİN YAPACAĞI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zeus-ai platform katmanı üzerinden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1.  Bağımlılığı ekler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zeus-ai — sürüm yazılmaz, platform yönetir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2.  Servis metodunu işaretler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800"/>
              </a:spcAft>
            </a:pPr>
            <a:r>
              <a:rPr sz="900" b="0" i="0">
                <a:solidFill>
                  <a:srgbClr val="2E75B6"/>
                </a:solidFill>
                <a:latin typeface="Consolas"/>
              </a:rPr>
              <a:t>@McpTool("Başvuru durumunu sorgular")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3.  Deploy eder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yeni sunucu, yeni dağıtım hattı, yeni ekran yok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2E75B6"/>
                </a:solidFill>
                <a:latin typeface="Calibri"/>
              </a:rPr>
              <a:t>Protokol, taşıma, yetenek keşfi, oturum ve izleme zeus-ai içinde kalır. Uygulama ekibi MCP spesifikasyonunu okumak zorunda kalmaz.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234440"/>
            <a:ext cx="44805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NEDEN JAVA — protokol dil bağımsız olduğu hâlde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Yetki, yeniden yazılmaz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MCP server uygulamanın İÇİNDE çalışır; istek mevcut JWT token'ıyla, mevcut filtre zincirinden geçer. Kullanıcının bugün göremediğini asistan da göremez.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İş kuralı tek yerde kalır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Servis zaten Java'da. MCP server aynı sınıfı çağırır; mantık kopyalanmaz.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Mevcut altyapı hazır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WildFly, JNDI datasource, stored procedure'ler, loglama ve izleme aynen kullanılır — yeni çalışma ortamı kurulmaz.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Platform tek noktadan yönetir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Sürüm, CVE ve protokol değişimi zeus-ai'de ele alınır; N uygulama tek tek güncellenmez.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Ayrı dilde bir MCP servisi de yazılabilirdi — ama o zaman JWT doğrulamasını, yetki eşlemesini ve iş kuralını ikinci kez yazardık.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Seçimi belirleyen dil tercihi değil: yetkinin ve iş kuralının nerede durduğu.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SÜRÜM KARARI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Neden Spring AI 1.x Değil, 2.x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8229600" cy="411480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Spring AI 2.0.0 GA — 12 Haziran 2026   ·   temel: Spring Boot 4 · Framework 7 · Java 25 · Jackson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3977639" cy="269748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A03A34"/>
                </a:solidFill>
                <a:latin typeface="Calibri"/>
              </a:rPr>
              <a:t>Spring AI 1.x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A03A34"/>
                </a:solidFill>
                <a:latin typeface="Calibri"/>
              </a:rPr>
              <a:t>değerlendirdik, eledik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Temeli Spring Boot 3.5 — Boot 4 ortamımızda YÜKLENMİYOR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Haziran 2026'da destek bitti: yeni güvenlik yaması gelmiyor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MCP topluluk tarafında, eski spesifikasyonda kaldı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Servis çağırma döngüsü kütüphanenin içinde kapalı — araya yetki/log koyulamıyor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Jackson 2 · sağlayıcı başına birden çok varyant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1810512"/>
            <a:ext cx="3977639" cy="269748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C3DD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2E6B2E"/>
                </a:solidFill>
                <a:latin typeface="Calibri"/>
              </a:rPr>
              <a:t>Spring AI 2.x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950" b="0" i="0">
                <a:solidFill>
                  <a:srgbClr val="2E6B2E"/>
                </a:solidFill>
                <a:latin typeface="Calibri"/>
              </a:rPr>
              <a:t>seçtiğimiz hat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Temeli Boot 4 · Java 25 — Zeus 2.0.0 platformuyla birebir aynı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Aktif destek hattı; kurumsal kullanım için tek makul seçenek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MCP çekirdekte: @McpTool anotasyonu, resmî Java SDK 2.0, güncel spesifikasyon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Servis çağırma döngüsü açıldı — kendi yetki, log ve sınır kontrollerimizi araya koyabiliyoruz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Jackson 3 · null-güvenliği · sağlayıcı başına tek, sade uygulama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846320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Bu kararı aslında geçen çeyrekte verdik: Boot 4'e geçmemiş olsaydık Spring AI 2.x'i çalıştıramazdık.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1.x ise bugün destek dışı. MCP'yi kurumsal ölçekte taşıyabilecek tek hat 2.x.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