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~30 sn  ·  Açılış</a:t>
            </a:r>
          </a:p>
          <a:p/>
          <a:p>
            <a:r>
              <a:t>SÖYLE: "Geçen çeyrek platformu Java 25 ve Spring Boot 4'e taşıdık. Bugün onun</a:t>
            </a:r>
          </a:p>
          <a:p>
            <a:r>
              <a:t>üzerine ne koyabileceğimizi konuşmaya geldim. Yeni bir yapay zekâ yatırımı</a:t>
            </a:r>
          </a:p>
          <a:p>
            <a:r>
              <a:t>istemeye gelmedim — hâlihazırda sahip olduğumuz yapay zekâyı kurumun tamamına</a:t>
            </a:r>
          </a:p>
          <a:p>
            <a:r>
              <a:t>yaymayı konuşacağız."</a:t>
            </a:r>
          </a:p>
          <a:p/>
          <a:p>
            <a:r>
              <a:t>ÇERÇEVE — baştan söyleyin, dinleyici rahatlar:</a:t>
            </a:r>
          </a:p>
          <a:p>
            <a:r>
              <a:t>"Bu sunumun sonunda sizden bir şey istemeyeceğim. Yönü paylaşacağım,</a:t>
            </a:r>
          </a:p>
          <a:p>
            <a:r>
              <a:t>görüşünüzü alacağım."</a:t>
            </a:r>
          </a:p>
          <a:p/>
          <a:p>
            <a:r>
              <a:t>Talep beklentisi olmayan bir dinleyici çok daha açık dinler. Bunu ilk 30</a:t>
            </a:r>
          </a:p>
          <a:p>
            <a:r>
              <a:t>saniyede söylemek sunumun tamamının tonunu belirler.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~2 dk  ·  Bağlam</a:t>
            </a:r>
          </a:p>
          <a:p/>
          <a:p>
            <a:r>
              <a:t>SÖYLE: Soldaki dört kutu zaten bizim. Satın alınacak yeni bir şey yok.</a:t>
            </a:r>
          </a:p>
          <a:p>
            <a:r>
              <a:t>Kurum içi model erişimimiz çalışıyor, chat uygulamamız var, platformu Boot 4'e</a:t>
            </a:r>
          </a:p>
          <a:p>
            <a:r>
              <a:t>taşıdık, veri ve çalışma ortamı yerinde.</a:t>
            </a:r>
          </a:p>
          <a:p/>
          <a:p>
            <a:r>
              <a:t>ASIL MESAJ SAĞDA: Yapay zekâ tek bir uygulamanın içinde sıkışmış durumda.</a:t>
            </a:r>
          </a:p>
          <a:p>
            <a:r>
              <a:t>Kredi, mevduat, operasyon uygulamalarımız modele dokunamıyor. Yani modele</a:t>
            </a:r>
          </a:p>
          <a:p>
            <a:r>
              <a:t>yatırım yaptık ama kurumun iş verisine bağlamadık.</a:t>
            </a:r>
          </a:p>
          <a:p/>
          <a:p>
            <a:r>
              <a:t>VURGU (alt şerit): "Eksik olan model değil, platform katmanı." Yavaş söyleyin;</a:t>
            </a:r>
          </a:p>
          <a:p>
            <a:r>
              <a:t>sunumun tezi bu tek cümle.</a:t>
            </a:r>
          </a:p>
          <a:p/>
          <a:p>
            <a:r>
              <a:t>OLASI SORU: "Chat uygulaması zaten var, yetmiyor mu?" → Yetiyor, ama yalnızca</a:t>
            </a:r>
          </a:p>
          <a:p>
            <a:r>
              <a:t>kendi bildiği şeyler için. Kurumun iş verisine ve iş kurallarına erişimi yok.</a:t>
            </a:r>
          </a:p>
          <a:p>
            <a:r>
              <a:t>Bir sonraki slayt tam bunu anlatıyor.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~2 dk  ·  Sunumun kalbi</a:t>
            </a:r>
          </a:p>
          <a:p/>
          <a:p>
            <a:r>
              <a:t>SÖYLE: Solda bugünkü akış. Bir iş birimi "şunu da görebilir miyim" dediğinde</a:t>
            </a:r>
          </a:p>
          <a:p>
            <a:r>
              <a:t>analiz, tasarım, yeni servis, yeni ekran, sprint, devreye alma. Haftalar. Ve</a:t>
            </a:r>
          </a:p>
          <a:p>
            <a:r>
              <a:t>her yetenek için bu döngü baştan işliyor.</a:t>
            </a:r>
          </a:p>
          <a:p/>
          <a:p>
            <a:r>
              <a:t>Sağda değişen ne? Servis zaten var — kredi başvuru sorgusu yıllardır orada.</a:t>
            </a:r>
          </a:p>
          <a:p>
            <a:r>
              <a:t>Tek yaptığımız, o servisin üstüne "bu bir yetenektir" diye işaret koymak.</a:t>
            </a:r>
          </a:p>
          <a:p>
            <a:r>
              <a:t>Chat uygulaması onu kendiliğinden keşfediyor.</a:t>
            </a:r>
          </a:p>
          <a:p/>
          <a:p>
            <a:r>
              <a:t>VURGU: Yeni bir ekran yazmıyoruz. Ekran zaten var. Uygulama sadece yeteneğini</a:t>
            </a:r>
          </a:p>
          <a:p>
            <a:r>
              <a:t>bildiriyor.</a:t>
            </a:r>
          </a:p>
          <a:p/>
          <a:p>
            <a:r>
              <a:t>DİKKAT: Teknik ekip varsa "anotasyon" diyebilirsiniz; yönetici için "tek</a:t>
            </a:r>
          </a:p>
          <a:p>
            <a:r>
              <a:t>satırlık bir bildirim" ifadesi yeterli. Kod terimlerinde durmayın.</a:t>
            </a:r>
          </a:p>
          <a:p/>
          <a:p>
            <a:r>
              <a:t>OLASI SORU: "Her şeyi mi açıyoruz?" → Hayır, neyi açacağımızı biz seçiyoruz ve</a:t>
            </a:r>
          </a:p>
          <a:p>
            <a:r>
              <a:t>her çağrı mevcut yetki kontrolünden geçiyor. Güvenlik slaytında döneceğiz.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~3 dk  ·  En fazla zaman ayıracağınız slayt</a:t>
            </a:r>
          </a:p>
          <a:p/>
          <a:p>
            <a:r>
              <a:t>SÖYLE: Dört senaryo, dördü de bugünkü sistemlerimizin üzerinde çalışır.</a:t>
            </a:r>
          </a:p>
          <a:p/>
          <a:p>
            <a:r>
              <a:t>1) Mevcut servisler açılır — sıfır yeni kod, sadece bildirim. Şube ve çağrı</a:t>
            </a:r>
          </a:p>
          <a:p>
            <a:r>
              <a:t>   merkezi bugün üç ekran geziyor; tek yerden soracak.</a:t>
            </a:r>
          </a:p>
          <a:p>
            <a:r>
              <a:t>2) Doğal dille sorgulama — BURADA DURUN. Model veritabanına girmiyor. Bizim</a:t>
            </a:r>
          </a:p>
          <a:p>
            <a:r>
              <a:t>   yazdığımız stored procedure'ü çağırıyor. Yani iş kuralı, limit kontrolü,</a:t>
            </a:r>
          </a:p>
          <a:p>
            <a:r>
              <a:t>   yetki — hepsi bizde kalıyor. Bu ayrım denetim açısından kritik; odadaki</a:t>
            </a:r>
          </a:p>
          <a:p>
            <a:r>
              <a:t>   risk/uyum tarafı bunu duymak ister.</a:t>
            </a:r>
          </a:p>
          <a:p>
            <a:r>
              <a:t>3) Mevzuat ve prosedür asistanı — cevap kaynak göstererek geliyor. "Model</a:t>
            </a:r>
          </a:p>
          <a:p>
            <a:r>
              <a:t>   uydurur mu" sorusunun cevabı budur: cevabın yanında dayanağı da var.</a:t>
            </a:r>
          </a:p>
          <a:p>
            <a:r>
              <a:t>4) Operasyon triyajı — içeriye dönük, en hızlı kazanç. Gece işlemlerinde bir</a:t>
            </a:r>
          </a:p>
          <a:p>
            <a:r>
              <a:t>   hata olduğunda kök neden özeti hazır geliyor.</a:t>
            </a:r>
          </a:p>
          <a:p/>
          <a:p>
            <a:r>
              <a:t>VURGU (alt şerit): Dördü için dört ayrı entegrasyon yazmıyoruz. Aynı katman.</a:t>
            </a:r>
          </a:p>
          <a:p>
            <a:r>
              <a:t>Dördüncünün maliyeti birincinin çok altında.</a:t>
            </a:r>
          </a:p>
          <a:p/>
          <a:p>
            <a:r>
              <a:t>Hangisi önce diye sorarlarsa: 1 ve 4 en hızlısı, 3 en görünür olanı.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~2,5 dk  ·  Teknik hakimiyet slaytı</a:t>
            </a:r>
          </a:p>
          <a:p/>
          <a:p>
            <a:r>
              <a:t>SÖYLE: Spring AI'ın iki hattı var ve bu bir tercih meselesi değil, uyum</a:t>
            </a:r>
          </a:p>
          <a:p>
            <a:r>
              <a:t>meselesi.</a:t>
            </a:r>
          </a:p>
          <a:p/>
          <a:p>
            <a:r>
              <a:t>Eski hat (1.x) Spring Boot 3 üzerinde kaldı. Yeni hat (2.x) Boot 4 istiyor.</a:t>
            </a:r>
          </a:p>
          <a:p>
            <a:r>
              <a:t>Bizim platformumuz Boot 4'te.</a:t>
            </a:r>
          </a:p>
          <a:p/>
          <a:p>
            <a:r>
              <a:t>ALT ŞERİDİ AYNEN SÖYLEYİN — sunumun en güçlü cümlesi:</a:t>
            </a:r>
          </a:p>
          <a:p>
            <a:r>
              <a:t>"Boot 4'e geçmiş olmasaydık bu sunumu bugün yapamıyorduk."</a:t>
            </a:r>
          </a:p>
          <a:p/>
          <a:p>
            <a:r>
              <a:t>Sonra ekleyin: "Geçen çeyrek o yükseltmeyi yaparken bu kapıyı açmış olduk.</a:t>
            </a:r>
          </a:p>
          <a:p>
            <a:r>
              <a:t>Boot 3'te kalan kurumlar bugün bu hattı kullanamıyor."</a:t>
            </a:r>
          </a:p>
          <a:p/>
          <a:p>
            <a:r>
              <a:t>Bu, öngörü kredisini size verir ve saldırıya kapalıdır — çünkü doğrulanabilir</a:t>
            </a:r>
          </a:p>
          <a:p>
            <a:r>
              <a:t>bir teknik gerçek.</a:t>
            </a:r>
          </a:p>
          <a:p/>
          <a:p>
            <a:r>
              <a:t>DİKKAT: "Jackson 3", "JSpecify" gibi terimlerde durmayın. "Temel kütüphaneler</a:t>
            </a:r>
          </a:p>
          <a:p>
            <a:r>
              <a:t>aynı sürümde" demek yeterli; detay teknik biri sorarsa elinizde.</a:t>
            </a:r>
          </a:p>
          <a:p/>
          <a:p>
            <a:r>
              <a:t>OLASI SORU: "Yeni çıkmış, beklesek mi?" → Bir sonraki slayt tam olarak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~2,5 dk  ·  Kredibilite slaytı — atlamayın</a:t>
            </a:r>
          </a:p>
          <a:p/>
          <a:p>
            <a:r>
              <a:t>SÖYLE: Riskleri ben getiriyorum, sonradan keşfedilmesin diye.</a:t>
            </a:r>
          </a:p>
          <a:p/>
          <a:p>
            <a:r>
              <a:t>1) En somut olanı: hazır paketler, bizim sabitlediğimiz sürümden bir üst</a:t>
            </a:r>
          </a:p>
          <a:p>
            <a:r>
              <a:t>   yamanın kütüphanelerini çekmeye çalışıyor. Bilinen ve kayıtlı bir konu.</a:t>
            </a:r>
          </a:p>
          <a:p>
            <a:r>
              <a:t>   Önemli olan şu: o üst yamaya geçiş zaten planımızda. Destek takvimi de,</a:t>
            </a:r>
          </a:p>
          <a:p>
            <a:r>
              <a:t>   Spring AI de aynı yönü gösteriyor. Yani bu bir sürpriz değil, teyit.</a:t>
            </a:r>
          </a:p>
          <a:p>
            <a:r>
              <a:t>2) Ekosistem genç. Bu yüzden uygulamalar kütüphaneye doğrudan bağlanmayacak;</a:t>
            </a:r>
          </a:p>
          <a:p>
            <a:r>
              <a:t>   araya kendi katmanımızı koyuyoruz. Yarın kütüphane değişirse tek yerde</a:t>
            </a:r>
          </a:p>
          <a:p>
            <a:r>
              <a:t>   değişir — otuz uygulamada değil.</a:t>
            </a:r>
          </a:p>
          <a:p>
            <a:r>
              <a:t>3) İnternetteki örneklerin çoğu eski sürüme ait; öğrenme eğrisi var.</a:t>
            </a:r>
          </a:p>
          <a:p>
            <a:r>
              <a:t>4) Sağlayıcı listesi daraldı ama biz zaten kendi gateway'imizin arkasındayız.</a:t>
            </a:r>
          </a:p>
          <a:p/>
          <a:p>
            <a:r>
              <a:t>VURGU (alt şerit): Dört riskin dördü de platform katmanında soğuruluyor.</a:t>
            </a:r>
          </a:p>
          <a:p>
            <a:r>
              <a:t>Uygulama ekipleri hiçbirini görmüyor. Kurumsal risk, platform ekibinin işi.</a:t>
            </a:r>
          </a:p>
          <a:p/>
          <a:p>
            <a:r>
              <a:t>EĞER SORARLARSA "üst yamaya ne zaman geçeceğiz": Destek takvimi bunu zaten</a:t>
            </a:r>
          </a:p>
          <a:p>
            <a:r>
              <a:t>gerektiriyor; platform tarafında ayrı bir konu olarak ele alıyoruz. Bu sunumun</a:t>
            </a:r>
          </a:p>
          <a:p>
            <a:r>
              <a:t>konusu değil — oraya sapmayın.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~2 dk  ·  Hızlı geçin, detaya boğulmayın</a:t>
            </a:r>
          </a:p>
          <a:p/>
          <a:p>
            <a:r>
              <a:t>SÖYLE: Üstte uygulamalarımız. Hiçbiri yapay zekâ kodu yazmıyor; sadece</a:t>
            </a:r>
          </a:p>
          <a:p>
            <a:r>
              <a:t>bağımlılık ekliyor — bugün ortak log kütüphanemizi nasıl kullanıyorlarsa öyle.</a:t>
            </a:r>
          </a:p>
          <a:p/>
          <a:p>
            <a:r>
              <a:t>Ortada kurulacak katman: dört iş yapıyor. Model erişimi, yetenek bildirimi,</a:t>
            </a:r>
          </a:p>
          <a:p>
            <a:r>
              <a:t>doküman arama, yetki ve izleme.</a:t>
            </a:r>
          </a:p>
          <a:p/>
          <a:p>
            <a:r>
              <a:t>Altta iki nokta: Model gateway'imiz zaten çalışıyor, değişmiyor. Doküman</a:t>
            </a:r>
          </a:p>
          <a:p>
            <a:r>
              <a:t>arama deposunun hangi ürün olacağı ise teknik değerlendirme konusu — ve</a:t>
            </a:r>
          </a:p>
          <a:p>
            <a:r>
              <a:t>katman bunu uygulamadan gizliyor.</a:t>
            </a:r>
          </a:p>
          <a:p/>
          <a:p>
            <a:r>
              <a:t>ALT ŞERİT — bu slaytın asıl mesajı: Uygulamalar katmanın arkasında ne</a:t>
            </a:r>
          </a:p>
          <a:p>
            <a:r>
              <a:t>olduğunu bilmez. Model değişse, doküman deposu değişse, kütüphane değişse</a:t>
            </a:r>
          </a:p>
          <a:p>
            <a:r>
              <a:t>uygulama kodu değişmez. Tek yerde değişir.</a:t>
            </a:r>
          </a:p>
          <a:p/>
          <a:p>
            <a:r>
              <a:t>Bu cümle, "yarın teknoloji değişirse ne olacak" sorusunun peşin cevabıdır.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~2 dk  ·  En çok tereddüt edilecek yer</a:t>
            </a:r>
          </a:p>
          <a:p/>
          <a:p>
            <a:r>
              <a:t>SÖYLE: En sık gelen soru "verimiz nereye gidiyor". Cevap: hiçbir yere. Model</a:t>
            </a:r>
          </a:p>
          <a:p>
            <a:r>
              <a:t>ve gateway kurum ağının içinde. Metni sayısallaştırma işlemi bile uygulamanın</a:t>
            </a:r>
          </a:p>
          <a:p>
            <a:r>
              <a:t>kendi içinde, çevrimdışı çalışabiliyor.</a:t>
            </a:r>
          </a:p>
          <a:p/>
          <a:p>
            <a:r>
              <a:t>İKİNCİ KUTUYU VURGULAYIN — bankacılıkta en önemli cümle bu:</a:t>
            </a:r>
          </a:p>
          <a:p>
            <a:r>
              <a:t>"Bir kullanıcı bugün göremediği hesabı, yarın chat üzerinden de göremez."</a:t>
            </a:r>
          </a:p>
          <a:p>
            <a:r>
              <a:t>Çünkü model veritabanına girmiyor; uygulamanın servisini çağırıyor ve o</a:t>
            </a:r>
          </a:p>
          <a:p>
            <a:r>
              <a:t>servis bugünkü yetki kontrolünden geçiyor. Yeni bir erişim yolu açmıyoruz.</a:t>
            </a:r>
          </a:p>
          <a:p/>
          <a:p>
            <a:r>
              <a:t>İzlenebilirlik: Hangi kullanıcı, hangi soru, hangi veriye erişim, ne kadar</a:t>
            </a:r>
          </a:p>
          <a:p>
            <a:r>
              <a:t>sürede — hepsi kayıt altında. Denetim sorduğunda cevabımız hazır.</a:t>
            </a:r>
          </a:p>
          <a:p/>
          <a:p>
            <a:r>
              <a:t>VURGU (alt şerit): "Hiçbir müşteri ya da iş verisi kurum ağının dışına</a:t>
            </a:r>
          </a:p>
          <a:p>
            <a:r>
              <a:t>çıkmaz." Net ve yavaş. Odadaki en önemli cümle bu olabilir.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~2,5 dk  ·  Sunumun ağırlık merkezi</a:t>
            </a:r>
          </a:p>
          <a:p/>
          <a:p>
            <a:r>
              <a:t>SÖYLE: Dört başlıkta katkı — ve her birinin altında neyi ölçeceğimiz yazıyor.</a:t>
            </a:r>
          </a:p>
          <a:p/>
          <a:p>
            <a:r>
              <a:t>Operasyon yükü: Tekrarlayan talepler self-servise kayar; operasyon istisnaya</a:t>
            </a:r>
          </a:p>
          <a:p>
            <a:r>
              <a:t>odaklanır. Ölçeceğimiz şey operasyona düşen talep adedi.</a:t>
            </a:r>
          </a:p>
          <a:p>
            <a:r>
              <a:t>Bilgiye erişim: Mevzuat sorusu, doküman aramaktan cevaba dönüşür. Ölçeceğimiz</a:t>
            </a:r>
          </a:p>
          <a:p>
            <a:r>
              <a:t>şey sorudan cevaba geçen süre.</a:t>
            </a:r>
          </a:p>
          <a:p>
            <a:r>
              <a:t>Yetenek maliyeti: Katman bir kez kurulur; sonraki uygulamalar ucuzlar.</a:t>
            </a:r>
          </a:p>
          <a:p>
            <a:r>
              <a:t>Ölçeceğimiz şey yetenek başına geliştirme günü.</a:t>
            </a:r>
          </a:p>
          <a:p>
            <a:r>
              <a:t>Denetlenebilirlik: Erişim tek noktada toplanır. Ölçeceğimiz şey denetim</a:t>
            </a:r>
          </a:p>
          <a:p>
            <a:r>
              <a:t>sorusuna cevap verme süresi.</a:t>
            </a:r>
          </a:p>
          <a:p/>
          <a:p>
            <a:r>
              <a:t>ALT ŞERİDİ AYNEN SÖYLEYİN — bu slaytın gücü buradan geliyor:</a:t>
            </a:r>
          </a:p>
          <a:p>
            <a:r>
              <a:t>"Bugün size tasarruf rakamı sunmuyorum. Ölçüm noktalarını baştan koyuyorum."</a:t>
            </a:r>
          </a:p>
          <a:p/>
          <a:p>
            <a:r>
              <a:t>Neden bu daha güçlü: Yönetim, uydurma yüzde rakamlarını çok gördü. Ölçüyü</a:t>
            </a:r>
          </a:p>
          <a:p>
            <a:r>
              <a:t>baştan tanımlayan biri, sonradan hesap vermeye hazır olduğunu göstermiş olur.</a:t>
            </a:r>
          </a:p>
          <a:p>
            <a:r>
              <a:t>Rakam sorarlarsa: "İlk gerçek kullanımdan sonra, bu dört ölçütle geleceğim."</a:t>
            </a:r>
          </a:p>
          <a:p/>
          <a:p>
            <a:r>
              <a:t>Bu cevap neredeyse her zaman rakam sunmaktan daha çok güven kazandırır.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~2,5 dk  ·  Vizyon slaytı — sunumun en yüksek noktası</a:t>
            </a:r>
          </a:p>
          <a:p/>
          <a:p>
            <a:r>
              <a:t>SÖYLE: "Buraya kadar dört senaryo konuştuk. Ama asıl mesele senaryolar değil,</a:t>
            </a:r>
          </a:p>
          <a:p>
            <a:r>
              <a:t>onları mümkün kılan katman."</a:t>
            </a:r>
          </a:p>
          <a:p/>
          <a:p>
            <a:r>
              <a:t>Dört kutuyu tek tek okumayın, üzerinden geçin: müşteri temsilcisi asistanı,</a:t>
            </a:r>
          </a:p>
          <a:p>
            <a:r>
              <a:t>iç operasyon asistanı, uçtan uca süreç otomasyonu, geliştirici verimliliği.</a:t>
            </a:r>
          </a:p>
          <a:p>
            <a:r>
              <a:t>"Bunların hiçbiri bugünün işi. Ama hepsi aynı katmanın üzerinde duruyor."</a:t>
            </a:r>
          </a:p>
          <a:p/>
          <a:p>
            <a:r>
              <a:t>ANALOJİYİ MUTLAKA SÖYLEYİN — yöneticinin dilinden konuşan tek cümle bu:</a:t>
            </a:r>
          </a:p>
          <a:p>
            <a:r>
              <a:t>"İnternet bankacılığı için servis katmanını kurduğumuzda da tek bir ekran için</a:t>
            </a:r>
          </a:p>
          <a:p>
            <a:r>
              <a:t>kurmamıştık. Yıllarca üzerine ne koyduğumuzu düşünün. Bu da öyle bir katman."</a:t>
            </a:r>
          </a:p>
          <a:p/>
          <a:p>
            <a:r>
              <a:t>Sonra kapanış cümlesi: "Kurumda yapay zekâ, bir uygulamanın özelliği olmaktan</a:t>
            </a:r>
          </a:p>
          <a:p>
            <a:r>
              <a:t>çıkıp platformun yeteneği haline gelir."</a:t>
            </a:r>
          </a:p>
          <a:p/>
          <a:p>
            <a:r>
              <a:t>TON: Burada yavaşlayın. Sunumun duygusal zirvesi bu slayt. Acele etmeyin.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~1,5 dk  ·  Kapanış — kısa tutun</a:t>
            </a:r>
          </a:p>
          <a:p/>
          <a:p>
            <a:r>
              <a:t>SÖYLE: Üç parça. Model hazır — yatırım yapıldı, çalışıyor. Platform hazır —</a:t>
            </a:r>
          </a:p>
          <a:p>
            <a:r>
              <a:t>geçen çeyrek tamamlandı. Eksik olan tek parça aradaki katman.</a:t>
            </a:r>
          </a:p>
          <a:p/>
          <a:p>
            <a:r>
              <a:t>BÜYÜK CÜMLE: "Bu katman kurulduğunda yapay zekâ bir proje olmaktan çıkar,</a:t>
            </a:r>
          </a:p>
          <a:p>
            <a:r>
              <a:t>kurumun bir yeteneği olur."</a:t>
            </a:r>
          </a:p>
          <a:p/>
          <a:p>
            <a:r>
              <a:t>Sonra alttaki kutuyu okuyun, kelimesi kelimesine:</a:t>
            </a:r>
          </a:p>
          <a:p>
            <a:r>
              <a:t>"Bugün bir talebimiz yok. Yönü paylaşmaya ve görüşünüzü almaya geldik."</a:t>
            </a:r>
          </a:p>
          <a:p/>
          <a:p>
            <a:r>
              <a:t>VE SUSUN. Boşluğu doldurmaya çalışmayın. Talep etmeden bitirmek, çoğu zaman</a:t>
            </a:r>
          </a:p>
          <a:p>
            <a:r>
              <a:t>talep etmekten daha etkili olur — yönetim kendi sorar. Sorarlarsa hazır</a:t>
            </a:r>
          </a:p>
          <a:p>
            <a:r>
              <a:t>olun ama siz açmayın.</a:t>
            </a:r>
          </a:p>
          <a:p/>
          <a:p>
            <a:r>
              <a:t>EĞER "peki ne gerekiyor" diye sorarlarsa: "Küçük bir çekirdek ekiple</a:t>
            </a:r>
          </a:p>
          <a:p>
            <a:r>
              <a:t>başlanabilir. Somut planı, sizden yön teyidi aldıktan sonra ayrıca</a:t>
            </a:r>
          </a:p>
          <a:p>
            <a:r>
              <a:t>getiririm." — Bu cevap kapıyı açık bırakır, talep gibi durmaz.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Sunulmaz — soru gelirse açılır</a:t>
            </a:r>
          </a:p>
          <a:p/>
          <a:p>
            <a:r>
              <a:t>Yedek slayt. Terim sorusu gelirse buraya dönün.</a:t>
            </a:r>
          </a:p>
          <a:p/>
          <a:p>
            <a:r>
              <a:t>SIK GELEN SORULAR VE KISA CEVAPLAR:</a:t>
            </a:r>
          </a:p>
          <a:p>
            <a:r>
              <a:t>• "Model yanlış cevap verirse?" → Doküman senaryosunda cevap kaynak</a:t>
            </a:r>
          </a:p>
          <a:p>
            <a:r>
              <a:t>  gösteriyor, dayanağı görülebiliyor. Veri senaryosunda model cevabı</a:t>
            </a:r>
          </a:p>
          <a:p>
            <a:r>
              <a:t>  üretmiyor, bizim prosedürümüzü çağırıyor. Serbest metin üreten</a:t>
            </a:r>
          </a:p>
          <a:p>
            <a:r>
              <a:t>  kullanımlarda risk var; onları kontrollü açacağız.</a:t>
            </a:r>
          </a:p>
          <a:p>
            <a:r>
              <a:t>• "Personel yerine mi geçecek?" → Hayır. Tekrarlayan sorgu ve arama işini</a:t>
            </a:r>
          </a:p>
          <a:p>
            <a:r>
              <a:t>  alıyor; karar ve sorumluluk insanda kalıyor.</a:t>
            </a:r>
          </a:p>
          <a:p>
            <a:r>
              <a:t>• "Rakipler ne yapıyor?" → Bu, sektörde standartlaşan bir mimari. Bizim</a:t>
            </a:r>
          </a:p>
          <a:p>
            <a:r>
              <a:t>  farkımız hazır bir platformun üzerine koyuyor olmamız; sıfırdan</a:t>
            </a:r>
          </a:p>
          <a:p>
            <a:r>
              <a:t>  başlamıyoruz.</a:t>
            </a:r>
          </a:p>
          <a:p>
            <a:r>
              <a:t>• "Neden şimdi?" → Boot 4 yükseltmesi bittiği için pencere şimdi açık.</a:t>
            </a:r>
          </a:p>
          <a:p>
            <a:r>
              <a:t>  Beklersek kütüphane bizden uzaklaşır ve mesafeyi kapatmak pahalılaşır.</a:t>
            </a:r>
          </a:p>
          <a:p>
            <a:r>
              <a:t>• "Maliyeti ne?" → Ölçüm noktalarını koyduk; somut rakamı ilk gerçek</a:t>
            </a:r>
          </a:p>
          <a:p>
            <a:r>
              <a:t>  kullanımdan sonra getireceğim. Bugün tahmin sunmak istemiyorum.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5430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Zeus Platformunda Yapay Zekâ</a:t>
            </a:r>
          </a:p>
          <a:p>
            <a:pPr>
              <a:spcBef>
                <a:spcPts val="1400"/>
              </a:spcBef>
            </a:pPr>
            <a:r>
              <a:rPr sz="1900" b="0">
                <a:solidFill>
                  <a:srgbClr val="C9D6EA"/>
                </a:solidFill>
              </a:rPr>
              <a:t>Spring AI 2.0 ile mevcut yapay zekâ yatırımını tüm kurumsal uygulamalara yaymak — ve büyük değişimin altyapısını bugünden kurmak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43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FB4D4"/>
                </a:solidFill>
              </a:rPr>
              <a:t>Zeus Framework Platform  ·  Ağustos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EAA"/>
                </a:solidFill>
              </a:rPr>
              <a:t>BAĞLAM</a:t>
            </a:r>
          </a:p>
          <a:p>
            <a:r>
              <a:rPr sz="2900" b="1">
                <a:solidFill>
                  <a:srgbClr val="1F3864"/>
                </a:solidFill>
              </a:rPr>
              <a:t>Bugün Neredeyiz: Yapay Zekâ Var, Ama Tek Adada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</a:rPr>
              <a:t>Elimizde hazır olanlar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822960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250" b="1">
                <a:solidFill>
                  <a:srgbClr val="3E7B3E"/>
                </a:solidFill>
              </a:rPr>
              <a:t>Kurum içi model erişimi</a:t>
            </a:r>
          </a:p>
          <a:p>
            <a:pPr algn="l"/>
            <a:r>
              <a:rPr sz="1050" b="0">
                <a:solidFill>
                  <a:srgbClr val="262626"/>
                </a:solidFill>
              </a:rPr>
              <a:t>LiteLLM gateway — tek kapı, çalışıyor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52928"/>
            <a:ext cx="5303520" cy="822960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250" b="1">
                <a:solidFill>
                  <a:srgbClr val="3E7B3E"/>
                </a:solidFill>
              </a:rPr>
              <a:t>Chat uygulaması + MCP client</a:t>
            </a:r>
          </a:p>
          <a:p>
            <a:pPr algn="l"/>
            <a:r>
              <a:rPr sz="1050" b="0">
                <a:solidFill>
                  <a:srgbClr val="262626"/>
                </a:solidFill>
              </a:rPr>
              <a:t>kullanıcı arayüzü ve tool protokolü hazır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85616"/>
            <a:ext cx="5303520" cy="822960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250" b="1">
                <a:solidFill>
                  <a:srgbClr val="3E7B3E"/>
                </a:solidFill>
              </a:rPr>
              <a:t>Zeus 2.0.0 platformu</a:t>
            </a:r>
          </a:p>
          <a:p>
            <a:pPr algn="l"/>
            <a:r>
              <a:rPr sz="1050" b="0">
                <a:solidFill>
                  <a:srgbClr val="262626"/>
                </a:solidFill>
              </a:rPr>
              <a:t>Java 25 · Spring Boot 4 · N uygulama tek parent'ta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18304"/>
            <a:ext cx="5303520" cy="822960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250" b="1">
                <a:solidFill>
                  <a:srgbClr val="3E7B3E"/>
                </a:solidFill>
              </a:rPr>
              <a:t>Kurumsal veri ve çalışma ortamı</a:t>
            </a:r>
          </a:p>
          <a:p>
            <a:pPr algn="l"/>
            <a:r>
              <a:rPr sz="1050" b="0">
                <a:solidFill>
                  <a:srgbClr val="262626"/>
                </a:solidFill>
              </a:rPr>
              <a:t>WildFly 41, veritabanları ve mevcut servisler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0403A"/>
                </a:solidFill>
              </a:rPr>
              <a:t>Eksik olan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920240"/>
            <a:ext cx="5239512" cy="3566160"/>
          </a:xfrm>
          <a:prstGeom prst="roundRect">
            <a:avLst/>
          </a:prstGeom>
          <a:solidFill>
            <a:srgbClr val="F9ECEA"/>
          </a:solidFill>
          <a:ln w="19050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500" b="1">
                <a:solidFill>
                  <a:srgbClr val="B0403A"/>
                </a:solidFill>
              </a:rPr>
              <a:t>Yapay zekâ yalnızca chat uygulamasında</a:t>
            </a:r>
          </a:p>
          <a:p>
            <a:r>
              <a:rPr sz="600" b="0">
                <a:solidFill>
                  <a:srgbClr val="262626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262626"/>
                </a:solidFill>
              </a:rPr>
              <a:t>•  Kredi, mevduat, operasyon uygulamalarımız modele dokunamıyor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262626"/>
                </a:solidFill>
              </a:rPr>
              <a:t>•  Her yeni yetenek tek bir uygulamanın backlog'una giriyor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262626"/>
                </a:solidFill>
              </a:rPr>
              <a:t>•  Kurumun bilgisi, modelin erişemediği yerde duruyor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262626"/>
                </a:solidFill>
              </a:rPr>
              <a:t>•  Her ekip kendi entegrasyonunu baştan yazmak zorunda kalacak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715000"/>
            <a:ext cx="10972800" cy="777240"/>
          </a:xfrm>
          <a:prstGeom prst="roundRect">
            <a:avLst/>
          </a:prstGeom>
          <a:solidFill>
            <a:srgbClr val="FBF3E2"/>
          </a:solidFill>
          <a:ln w="15875">
            <a:solidFill>
              <a:srgbClr val="B0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500" b="1">
                <a:solidFill>
                  <a:srgbClr val="B07D22"/>
                </a:solidFill>
              </a:rPr>
              <a:t>Eksik olan model değil — modeli iş uygulamalarına bağlayan platform katmanı.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EAA"/>
                </a:solidFill>
              </a:rPr>
              <a:t>DEĞİŞİM</a:t>
            </a:r>
          </a:p>
          <a:p>
            <a:r>
              <a:rPr sz="2900" b="1">
                <a:solidFill>
                  <a:srgbClr val="1F3864"/>
                </a:solidFill>
              </a:rPr>
              <a:t>Bir Uygulamanın Hayatında Ne Değişiyor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0403A"/>
                </a:solidFill>
              </a:rPr>
              <a:t>BUGÜN — her yetenek bir proje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5303520" cy="621792"/>
          </a:xfrm>
          <a:prstGeom prst="roundRect">
            <a:avLst/>
          </a:prstGeom>
          <a:solidFill>
            <a:srgbClr val="F9ECEA"/>
          </a:solidFill>
          <a:ln w="15875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250" b="1">
                <a:solidFill>
                  <a:srgbClr val="B0403A"/>
                </a:solidFill>
              </a:rPr>
              <a:t>1   İş birimi talebi gelir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303520" cy="621792"/>
          </a:xfrm>
          <a:prstGeom prst="roundRect">
            <a:avLst/>
          </a:prstGeom>
          <a:solidFill>
            <a:srgbClr val="F9ECEA"/>
          </a:solidFill>
          <a:ln w="15875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250" b="1">
                <a:solidFill>
                  <a:srgbClr val="B0403A"/>
                </a:solidFill>
              </a:rPr>
              <a:t>2   Analiz ve tasarım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29000"/>
            <a:ext cx="5303520" cy="621792"/>
          </a:xfrm>
          <a:prstGeom prst="roundRect">
            <a:avLst/>
          </a:prstGeom>
          <a:solidFill>
            <a:srgbClr val="F9ECEA"/>
          </a:solidFill>
          <a:ln w="15875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250" b="1">
                <a:solidFill>
                  <a:srgbClr val="B0403A"/>
                </a:solidFill>
              </a:rPr>
              <a:t>3   Yeni servis + yeni ekran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06240"/>
            <a:ext cx="5303520" cy="621792"/>
          </a:xfrm>
          <a:prstGeom prst="roundRect">
            <a:avLst/>
          </a:prstGeom>
          <a:solidFill>
            <a:srgbClr val="F9ECEA"/>
          </a:solidFill>
          <a:ln w="15875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250" b="1">
                <a:solidFill>
                  <a:srgbClr val="B0403A"/>
                </a:solidFill>
              </a:rPr>
              <a:t>4   Sprint, test, devreye alma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29199"/>
            <a:ext cx="53035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300" b="1">
                <a:solidFill>
                  <a:srgbClr val="B0403A"/>
                </a:solidFill>
              </a:rPr>
              <a:t>haftalar  ·  yetenek başına bir proje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239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E7B3E"/>
                </a:solidFill>
              </a:rPr>
              <a:t>YENİ KATMAN İLE — yetenek bir bildirim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74519"/>
            <a:ext cx="5239512" cy="621792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250" b="1">
                <a:solidFill>
                  <a:srgbClr val="3E7B3E"/>
                </a:solidFill>
              </a:rPr>
              <a:t>1   Servis zaten var (kredi başvuru sorgusu)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651760"/>
            <a:ext cx="5239512" cy="621792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250" b="1">
                <a:solidFill>
                  <a:srgbClr val="3E7B3E"/>
                </a:solidFill>
              </a:rPr>
              <a:t>2   Yeteneğini bildirir — tek satır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429000"/>
            <a:ext cx="5239512" cy="621792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250" b="1">
                <a:solidFill>
                  <a:srgbClr val="3E7B3E"/>
                </a:solidFill>
              </a:rPr>
              <a:t>3   Chat uygulaması kendiliğinden keşfeder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206240"/>
            <a:ext cx="5239512" cy="621792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250" b="1">
                <a:solidFill>
                  <a:srgbClr val="3E7B3E"/>
                </a:solidFill>
              </a:rPr>
              <a:t>4   Kullanıcı doğal dille kullanır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5029199"/>
            <a:ext cx="5239512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300" b="1">
                <a:solidFill>
                  <a:srgbClr val="3E7B3E"/>
                </a:solidFill>
              </a:rPr>
              <a:t>günler  ·  yeni ekran geliştirmesi yok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989320"/>
            <a:ext cx="10972800" cy="64008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450" b="1">
                <a:solidFill>
                  <a:srgbClr val="1F3864"/>
                </a:solidFill>
              </a:rPr>
              <a:t>Uygulama yeni bir arayüz yazmaz — sahip olduğu yeteneği bildirir. Arayüz zaten var.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EAA"/>
                </a:solidFill>
              </a:rPr>
              <a:t>SENARYOLAR</a:t>
            </a:r>
          </a:p>
          <a:p>
            <a:r>
              <a:rPr sz="2900" b="1">
                <a:solidFill>
                  <a:srgbClr val="1F3864"/>
                </a:solidFill>
              </a:rPr>
              <a:t>Dört Somut Kullanım — Bugünkü Sistemlerimizin Üzerinde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5303520" cy="192024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l"/>
            <a:r>
              <a:rPr sz="1350" b="1">
                <a:solidFill>
                  <a:srgbClr val="1F3864"/>
                </a:solidFill>
              </a:rPr>
              <a:t>1 — Mevcut servisler asistana açılır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62626"/>
                </a:solidFill>
              </a:rPr>
              <a:t>Kredi başvuru durumu, hesap hareketi, müşteri bilgi servisleri yeteneğini bildirir; chat uygulaması keşfeder ve çağırır.</a:t>
            </a:r>
          </a:p>
          <a:p>
            <a:pPr algn="l">
              <a:spcBef>
                <a:spcPts val="600"/>
              </a:spcBef>
            </a:pPr>
            <a:r>
              <a:rPr sz="1150" b="1">
                <a:solidFill>
                  <a:srgbClr val="3E7B3E"/>
                </a:solidFill>
              </a:rPr>
              <a:t>▸ Şube ve çağrı merkezi tek yerden sorar.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9AA0AA"/>
                </a:solidFill>
                <a:latin typeface="Consolas"/>
              </a:rPr>
              <a:t>mevcut servisler  ·  yeni kod yok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6792" y="1481328"/>
            <a:ext cx="5303520" cy="192024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l"/>
            <a:r>
              <a:rPr sz="1350" b="1">
                <a:solidFill>
                  <a:srgbClr val="1F3864"/>
                </a:solidFill>
              </a:rPr>
              <a:t>2 — Doğal dille veri sorgulama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62626"/>
                </a:solidFill>
              </a:rPr>
              <a:t>«Bu müşterinin son üç aydaki gecikmeli ödemeleri» → bizim yazdığımız stored procedure çağrılır, sonuç tabloya döner.</a:t>
            </a:r>
          </a:p>
          <a:p>
            <a:pPr algn="l">
              <a:spcBef>
                <a:spcPts val="600"/>
              </a:spcBef>
            </a:pPr>
            <a:r>
              <a:rPr sz="1150" b="1">
                <a:solidFill>
                  <a:srgbClr val="3E7B3E"/>
                </a:solidFill>
              </a:rPr>
              <a:t>▸ Operasyondaki rapor talebi kuyruğu kısalır.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9AA0AA"/>
                </a:solidFill>
                <a:latin typeface="Consolas"/>
              </a:rPr>
              <a:t>iş kuralı bizde kalır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11880"/>
            <a:ext cx="5303520" cy="192024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l"/>
            <a:r>
              <a:rPr sz="1350" b="1">
                <a:solidFill>
                  <a:srgbClr val="1F3864"/>
                </a:solidFill>
              </a:rPr>
              <a:t>3 — Mevzuat ve prosedür asistanı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62626"/>
                </a:solidFill>
              </a:rPr>
              <a:t>Genelgeler, iç prosedürler ve ürün şartnameleri üzerinde arama; cevap kaynak göstererek üretilir.</a:t>
            </a:r>
          </a:p>
          <a:p>
            <a:pPr algn="l">
              <a:spcBef>
                <a:spcPts val="600"/>
              </a:spcBef>
            </a:pPr>
            <a:r>
              <a:rPr sz="1150" b="1">
                <a:solidFill>
                  <a:srgbClr val="3E7B3E"/>
                </a:solidFill>
              </a:rPr>
              <a:t>▸ Uyum sorusuna dakikalar yerine saniyeler.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9AA0AA"/>
                </a:solidFill>
                <a:latin typeface="Consolas"/>
              </a:rPr>
              <a:t>kaynak gösterir  ·  doğrulanabilir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3611880"/>
            <a:ext cx="5303520" cy="192024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l"/>
            <a:r>
              <a:rPr sz="1350" b="1">
                <a:solidFill>
                  <a:srgbClr val="1F3864"/>
                </a:solidFill>
              </a:rPr>
              <a:t>4 — Operasyon: gece işlemleri ve hata triyajı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62626"/>
                </a:solidFill>
              </a:rPr>
              <a:t>Batch ve servis kayıtları üzerinde otomatik kök-neden özeti ve olay sınıflandırma.</a:t>
            </a:r>
          </a:p>
          <a:p>
            <a:pPr algn="l">
              <a:spcBef>
                <a:spcPts val="600"/>
              </a:spcBef>
            </a:pPr>
            <a:r>
              <a:rPr sz="1150" b="1">
                <a:solidFill>
                  <a:srgbClr val="3E7B3E"/>
                </a:solidFill>
              </a:rPr>
              <a:t>▸ Nöbet yükü ve çağrı sayısı azalır.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9AA0AA"/>
                </a:solidFill>
                <a:latin typeface="Consolas"/>
              </a:rPr>
              <a:t>zeus-logger kayıtları üzerinde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779008"/>
            <a:ext cx="10972800" cy="640080"/>
          </a:xfrm>
          <a:prstGeom prst="roundRect">
            <a:avLst/>
          </a:prstGeom>
          <a:solidFill>
            <a:srgbClr val="FBF3E2"/>
          </a:solidFill>
          <a:ln w="15875">
            <a:solidFill>
              <a:srgbClr val="B0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400" b="1">
                <a:solidFill>
                  <a:srgbClr val="B07D22"/>
                </a:solidFill>
              </a:rPr>
              <a:t>Dördü de aynı platform katmanını kullanır — dördü için dört ayrı entegrasyon yazılmaz.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EAA"/>
                </a:solidFill>
              </a:rPr>
              <a:t>TEKNİK YÖN</a:t>
            </a:r>
          </a:p>
          <a:p>
            <a:r>
              <a:rPr sz="2900" b="1">
                <a:solidFill>
                  <a:srgbClr val="1F3864"/>
                </a:solidFill>
              </a:rPr>
              <a:t>Neden Spring AI 1.x Değil, 2.x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89888"/>
            <a:ext cx="11091672" cy="47548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250" b="1">
                <a:solidFill>
                  <a:srgbClr val="FFFFFF"/>
                </a:solidFill>
              </a:rPr>
              <a:t>Spring AI 2.0.0 GA  —  12 Haziran 2026   ·   temel: Spring Boot 4 · Spring Framework 7 · Jackson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5303520" cy="3017520"/>
          </a:xfrm>
          <a:prstGeom prst="roundRect">
            <a:avLst/>
          </a:prstGeom>
          <a:solidFill>
            <a:srgbClr val="F9ECEA"/>
          </a:solidFill>
          <a:ln w="19050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ctr"/>
            <a:r>
              <a:rPr sz="1700" b="1">
                <a:solidFill>
                  <a:srgbClr val="B0403A"/>
                </a:solidFill>
              </a:rPr>
              <a:t>Spring AI 1.x</a:t>
            </a:r>
          </a:p>
          <a:p>
            <a:pPr algn="ctr"/>
            <a:r>
              <a:rPr sz="1100" b="0">
                <a:solidFill>
                  <a:srgbClr val="5A5A5A"/>
                </a:solidFill>
              </a:rPr>
              <a:t>değerlendirdik, eledik</a:t>
            </a:r>
          </a:p>
          <a:p>
            <a:pPr algn="l">
              <a:spcBef>
                <a:spcPts val="700"/>
              </a:spcBef>
            </a:pPr>
            <a:r>
              <a:rPr sz="1150" b="0">
                <a:solidFill>
                  <a:srgbClr val="262626"/>
                </a:solidFill>
              </a:rPr>
              <a:t>✗  Temel: Spring Boot 3 / Framework 6</a:t>
            </a:r>
          </a:p>
          <a:p>
            <a:pPr algn="l">
              <a:spcBef>
                <a:spcPts val="700"/>
              </a:spcBef>
            </a:pPr>
            <a:r>
              <a:rPr sz="1150" b="0">
                <a:solidFill>
                  <a:srgbClr val="262626"/>
                </a:solidFill>
              </a:rPr>
              <a:t>✗  Jackson 2 · null-safety yok</a:t>
            </a:r>
          </a:p>
          <a:p>
            <a:pPr algn="l">
              <a:spcBef>
                <a:spcPts val="700"/>
              </a:spcBef>
            </a:pPr>
            <a:r>
              <a:rPr sz="1150" b="0">
                <a:solidFill>
                  <a:srgbClr val="262626"/>
                </a:solidFill>
              </a:rPr>
              <a:t>✗  Boot 4 platformumuzla uyumlu değil</a:t>
            </a:r>
          </a:p>
          <a:p>
            <a:pPr algn="l">
              <a:spcBef>
                <a:spcPts val="700"/>
              </a:spcBef>
            </a:pPr>
            <a:r>
              <a:rPr sz="1150" b="0">
                <a:solidFill>
                  <a:srgbClr val="262626"/>
                </a:solidFill>
              </a:rPr>
              <a:t>✗  Yeni asistan yetenekleri bu hatta gelmiyor</a:t>
            </a:r>
          </a:p>
          <a:p>
            <a:pPr algn="l">
              <a:spcBef>
                <a:spcPts val="700"/>
              </a:spcBef>
            </a:pPr>
            <a:r>
              <a:rPr sz="1150" b="0">
                <a:solidFill>
                  <a:srgbClr val="262626"/>
                </a:solidFill>
              </a:rPr>
              <a:t>✗  MCP desteği eski spesifikasyonda kaldı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6792" y="2057400"/>
            <a:ext cx="5303520" cy="3017520"/>
          </a:xfrm>
          <a:prstGeom prst="roundRect">
            <a:avLst/>
          </a:prstGeom>
          <a:solidFill>
            <a:srgbClr val="EAF3EA"/>
          </a:solidFill>
          <a:ln w="19050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ctr"/>
            <a:r>
              <a:rPr sz="1700" b="1">
                <a:solidFill>
                  <a:srgbClr val="3E7B3E"/>
                </a:solidFill>
              </a:rPr>
              <a:t>Spring AI 2.x</a:t>
            </a:r>
          </a:p>
          <a:p>
            <a:pPr algn="ctr"/>
            <a:r>
              <a:rPr sz="1100" b="0">
                <a:solidFill>
                  <a:srgbClr val="5A5A5A"/>
                </a:solidFill>
              </a:rPr>
              <a:t>seçilen hat</a:t>
            </a:r>
          </a:p>
          <a:p>
            <a:pPr algn="l">
              <a:spcBef>
                <a:spcPts val="700"/>
              </a:spcBef>
            </a:pPr>
            <a:r>
              <a:rPr sz="1150" b="0">
                <a:solidFill>
                  <a:srgbClr val="262626"/>
                </a:solidFill>
              </a:rPr>
              <a:t>✓  Temel: Spring Boot 4 · Framework 7 · Java 25</a:t>
            </a:r>
          </a:p>
          <a:p>
            <a:pPr algn="l">
              <a:spcBef>
                <a:spcPts val="700"/>
              </a:spcBef>
            </a:pPr>
            <a:r>
              <a:rPr sz="1150" b="0">
                <a:solidFill>
                  <a:srgbClr val="262626"/>
                </a:solidFill>
              </a:rPr>
              <a:t>✓  Jackson 3 · JSpecify null-safety</a:t>
            </a:r>
          </a:p>
          <a:p>
            <a:pPr algn="l">
              <a:spcBef>
                <a:spcPts val="700"/>
              </a:spcBef>
            </a:pPr>
            <a:r>
              <a:rPr sz="1150" b="0">
                <a:solidFill>
                  <a:srgbClr val="262626"/>
                </a:solidFill>
              </a:rPr>
              <a:t>✓  Zeus 2.0.0 ile birebir aynı temel</a:t>
            </a:r>
          </a:p>
          <a:p>
            <a:pPr algn="l">
              <a:spcBef>
                <a:spcPts val="700"/>
              </a:spcBef>
            </a:pPr>
            <a:r>
              <a:rPr sz="1150" b="0">
                <a:solidFill>
                  <a:srgbClr val="262626"/>
                </a:solidFill>
              </a:rPr>
              <a:t>✓  Servis çağırma, yetenek keşfi, kendini düzelten çıktı</a:t>
            </a:r>
          </a:p>
          <a:p>
            <a:pPr algn="l">
              <a:spcBef>
                <a:spcPts val="700"/>
              </a:spcBef>
            </a:pPr>
            <a:r>
              <a:rPr sz="1150" b="0">
                <a:solidFill>
                  <a:srgbClr val="262626"/>
                </a:solidFill>
              </a:rPr>
              <a:t>✓  MCP 2025-11-25 + resmî Java SDK 2.0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500" b="1">
                <a:solidFill>
                  <a:srgbClr val="1F3864"/>
                </a:solidFill>
              </a:rPr>
              <a:t>Boot 4'e geçmiş olmasaydık bu sunumu bugün yapamıyorduk.</a:t>
            </a:r>
          </a:p>
          <a:p>
            <a:pPr algn="ctr"/>
            <a:r>
              <a:rPr sz="1200" b="0">
                <a:solidFill>
                  <a:srgbClr val="262626"/>
                </a:solidFill>
              </a:rPr>
              <a:t>Spring AI'ın yeni hattı Boot 3'ü desteklemiyor. Geçen çeyrekki yükseltme, bu kapıyı açan şeydi.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EAA"/>
                </a:solidFill>
              </a:rPr>
              <a:t>DÜRÜST BAKIŞ</a:t>
            </a:r>
          </a:p>
          <a:p>
            <a:r>
              <a:rPr sz="2900" b="1">
                <a:solidFill>
                  <a:srgbClr val="1F3864"/>
                </a:solidFill>
              </a:rPr>
              <a:t>Neyi Göze Alıyoruz — Riskler ve Önlemler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44752"/>
            <a:ext cx="3749039" cy="38404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150" b="1">
                <a:solidFill>
                  <a:srgbClr val="FFFFFF"/>
                </a:solidFill>
              </a:rPr>
              <a:t>RİSK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44752"/>
            <a:ext cx="3246120" cy="38404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150" b="1">
                <a:solidFill>
                  <a:srgbClr val="FFFFFF"/>
                </a:solidFill>
              </a:rPr>
              <a:t>ETKİ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444752"/>
            <a:ext cx="3822191" cy="38404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150" b="1">
                <a:solidFill>
                  <a:srgbClr val="FFFFFF"/>
                </a:solidFill>
              </a:rPr>
              <a:t>ÖNLEM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01952"/>
            <a:ext cx="3749039" cy="932688"/>
          </a:xfrm>
          <a:prstGeom prst="roundRect">
            <a:avLst/>
          </a:prstGeom>
          <a:solidFill>
            <a:srgbClr val="F9ECEA"/>
          </a:solidFill>
          <a:ln w="15875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050" b="1">
                <a:solidFill>
                  <a:srgbClr val="B0403A"/>
                </a:solidFill>
              </a:rPr>
              <a:t>Hazır paketler bir üst Boot yamasının kütüphanelerini çekiyor  (spring-ai#6465)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01952"/>
            <a:ext cx="3246120" cy="932688"/>
          </a:xfrm>
          <a:prstGeom prst="roundRect">
            <a:avLst/>
          </a:prstGeom>
          <a:solidFill>
            <a:srgbClr val="FBF3E2"/>
          </a:solidFill>
          <a:ln w="15875">
            <a:solidFill>
              <a:srgbClr val="B0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050" b="0">
                <a:solidFill>
                  <a:srgbClr val="262626"/>
                </a:solidFill>
              </a:rPr>
              <a:t>Sürümü sabitlenmiş platformda bağımlılık çakışması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901952"/>
            <a:ext cx="3822191" cy="932688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050" b="1">
                <a:solidFill>
                  <a:srgbClr val="3E7B3E"/>
                </a:solidFill>
              </a:rPr>
              <a:t>Bir üst yamaya geçiş zaten planımızda — hem destek takvimi hem Spring AI aynı yönü gösteriyor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26080"/>
            <a:ext cx="3749039" cy="932688"/>
          </a:xfrm>
          <a:prstGeom prst="roundRect">
            <a:avLst/>
          </a:prstGeom>
          <a:solidFill>
            <a:srgbClr val="F9ECEA"/>
          </a:solidFill>
          <a:ln w="15875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050" b="1">
                <a:solidFill>
                  <a:srgbClr val="B0403A"/>
                </a:solidFill>
              </a:rPr>
              <a:t>Genç ekosistem — kararlı sürüm iki aylık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926080"/>
            <a:ext cx="3246120" cy="932688"/>
          </a:xfrm>
          <a:prstGeom prst="roundRect">
            <a:avLst/>
          </a:prstGeom>
          <a:solidFill>
            <a:srgbClr val="FBF3E2"/>
          </a:solidFill>
          <a:ln w="15875">
            <a:solidFill>
              <a:srgbClr val="B0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050" b="0">
                <a:solidFill>
                  <a:srgbClr val="262626"/>
                </a:solidFill>
              </a:rPr>
              <a:t>Kütüphane arayüzünde değişiklik riski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926080"/>
            <a:ext cx="3822191" cy="932688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050" b="1">
                <a:solidFill>
                  <a:srgbClr val="3E7B3E"/>
                </a:solidFill>
              </a:rPr>
              <a:t>Uygulamalar Spring AI'a doğrudan bağlanmaz; araya zeus-ai katmanı girer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3749039" cy="932688"/>
          </a:xfrm>
          <a:prstGeom prst="roundRect">
            <a:avLst/>
          </a:prstGeom>
          <a:solidFill>
            <a:srgbClr val="F9ECEA"/>
          </a:solidFill>
          <a:ln w="15875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050" b="1">
                <a:solidFill>
                  <a:srgbClr val="B0403A"/>
                </a:solidFill>
              </a:rPr>
              <a:t>Örneklerin çoğu hâlâ eski sürüme ait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950208"/>
            <a:ext cx="3246120" cy="932688"/>
          </a:xfrm>
          <a:prstGeom prst="roundRect">
            <a:avLst/>
          </a:prstGeom>
          <a:solidFill>
            <a:srgbClr val="FBF3E2"/>
          </a:solidFill>
          <a:ln w="15875">
            <a:solidFill>
              <a:srgbClr val="B0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050" b="0">
                <a:solidFill>
                  <a:srgbClr val="262626"/>
                </a:solidFill>
              </a:rPr>
              <a:t>Öğrenme eğrisi; hazır örnekler birebir çalışmaz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3950208"/>
            <a:ext cx="3822191" cy="932688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050" b="1">
                <a:solidFill>
                  <a:srgbClr val="3E7B3E"/>
                </a:solidFill>
              </a:rPr>
              <a:t>Platform ekibi tek noktadan sarmalar; uygulama yalnızca Zeus arayüzünü görür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74336"/>
            <a:ext cx="3749039" cy="932688"/>
          </a:xfrm>
          <a:prstGeom prst="roundRect">
            <a:avLst/>
          </a:prstGeom>
          <a:solidFill>
            <a:srgbClr val="F9ECEA"/>
          </a:solidFill>
          <a:ln w="15875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050" b="1">
                <a:solidFill>
                  <a:srgbClr val="B0403A"/>
                </a:solidFill>
              </a:rPr>
              <a:t>Sağlayıcı listesi konsolide edildi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4974336"/>
            <a:ext cx="3246120" cy="932688"/>
          </a:xfrm>
          <a:prstGeom prst="roundRect">
            <a:avLst/>
          </a:prstGeom>
          <a:solidFill>
            <a:srgbClr val="FBF3E2"/>
          </a:solidFill>
          <a:ln w="15875">
            <a:solidFill>
              <a:srgbClr val="B0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050" b="0">
                <a:solidFill>
                  <a:srgbClr val="262626"/>
                </a:solidFill>
              </a:rPr>
              <a:t>Bazı model entegrasyonları kapsam dışı kaldı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4974336"/>
            <a:ext cx="3822191" cy="932688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/>
            <a:r>
              <a:rPr sz="1050" b="1">
                <a:solidFill>
                  <a:srgbClr val="3E7B3E"/>
                </a:solidFill>
              </a:rPr>
              <a:t>Zaten kurum içi gateway arkasındayız — tek standart arayüz yeterli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6035040"/>
            <a:ext cx="10972800" cy="59436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400" b="1">
                <a:solidFill>
                  <a:srgbClr val="1F3864"/>
                </a:solidFill>
              </a:rPr>
              <a:t>Dört riskin dördü de platform katmanında soğurulur — uygulama ekipleri hiçbirini görmez.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EAA"/>
                </a:solidFill>
              </a:rPr>
              <a:t>MİMARİ</a:t>
            </a:r>
          </a:p>
          <a:p>
            <a:r>
              <a:rPr sz="2900" b="1">
                <a:solidFill>
                  <a:srgbClr val="1F3864"/>
                </a:solidFill>
              </a:rPr>
              <a:t>zeus-ai: Yeni Platform Katmanı Nereye Oturuyor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A5A5A"/>
                </a:solidFill>
              </a:rPr>
              <a:t>Uygulamalar — yapay zekâ kodu yazmaz, yalnızca bağımlılık ekler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55648"/>
            <a:ext cx="3611880" cy="658368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250" b="1">
                <a:solidFill>
                  <a:srgbClr val="1F3864"/>
                </a:solidFill>
              </a:rPr>
              <a:t>kredi uygulaması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8536" y="1755648"/>
            <a:ext cx="3611880" cy="658368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250" b="1">
                <a:solidFill>
                  <a:srgbClr val="1F3864"/>
                </a:solidFill>
              </a:rPr>
              <a:t>operasyon uygulaması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1" y="1755648"/>
            <a:ext cx="3611880" cy="658368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250" b="1">
                <a:solidFill>
                  <a:srgbClr val="1F3864"/>
                </a:solidFill>
              </a:rPr>
              <a:t>diğer N uygulama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70448" y="2514600"/>
            <a:ext cx="457200" cy="347472"/>
          </a:xfrm>
          <a:prstGeom prst="downArrow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971800"/>
            <a:ext cx="11091672" cy="56692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zeus-ai   —   platform katmanı (kurulacak olan)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39312"/>
            <a:ext cx="2670048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150" b="1">
                <a:solidFill>
                  <a:srgbClr val="1F3864"/>
                </a:solidFill>
              </a:rPr>
              <a:t>Model erişimi</a:t>
            </a:r>
          </a:p>
          <a:p>
            <a:pPr algn="ctr"/>
            <a:r>
              <a:rPr sz="950" b="0">
                <a:solidFill>
                  <a:srgbClr val="5A5A5A"/>
                </a:solidFill>
              </a:rPr>
              <a:t>tek noktadan, standart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3639312"/>
            <a:ext cx="2670048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150" b="1">
                <a:solidFill>
                  <a:srgbClr val="1F3864"/>
                </a:solidFill>
              </a:rPr>
              <a:t>Yetenek bildirimi</a:t>
            </a:r>
          </a:p>
          <a:p>
            <a:pPr algn="ctr"/>
            <a:r>
              <a:rPr sz="950" b="0">
                <a:solidFill>
                  <a:srgbClr val="5A5A5A"/>
                </a:solidFill>
              </a:rPr>
              <a:t>servisleri asistana açar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3639312"/>
            <a:ext cx="2670048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150" b="1">
                <a:solidFill>
                  <a:srgbClr val="1F3864"/>
                </a:solidFill>
              </a:rPr>
              <a:t>Doküman arama</a:t>
            </a:r>
          </a:p>
          <a:p>
            <a:pPr algn="ctr"/>
            <a:r>
              <a:rPr sz="950" b="0">
                <a:solidFill>
                  <a:srgbClr val="5A5A5A"/>
                </a:solidFill>
              </a:rPr>
              <a:t>kaynak göstererek cevap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0264" y="3639312"/>
            <a:ext cx="2670048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150" b="1">
                <a:solidFill>
                  <a:srgbClr val="1F3864"/>
                </a:solidFill>
              </a:rPr>
              <a:t>Yetki ve izleme</a:t>
            </a:r>
          </a:p>
          <a:p>
            <a:pPr algn="ctr"/>
            <a:r>
              <a:rPr sz="950" b="0">
                <a:solidFill>
                  <a:srgbClr val="5A5A5A"/>
                </a:solidFill>
              </a:rPr>
              <a:t>kim, neyi, ne zaman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90288"/>
            <a:ext cx="5468112" cy="786384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250" b="1">
                <a:solidFill>
                  <a:srgbClr val="3E7B3E"/>
                </a:solidFill>
              </a:rPr>
              <a:t>Kurum içi model gateway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hâlihazırda çalışıyor  ·  değişmiyor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590288"/>
            <a:ext cx="5468112" cy="786384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250" b="1">
                <a:solidFill>
                  <a:srgbClr val="1F3864"/>
                </a:solidFill>
              </a:rPr>
              <a:t>Doküman arama deposu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ürün seçimi teknik değerlendirme konusu  ·  katman uygulamadan gizler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77840"/>
            <a:ext cx="10972800" cy="868680"/>
          </a:xfrm>
          <a:prstGeom prst="roundRect">
            <a:avLst/>
          </a:prstGeom>
          <a:solidFill>
            <a:srgbClr val="FBF3E2"/>
          </a:solidFill>
          <a:ln w="15875">
            <a:solidFill>
              <a:srgbClr val="B0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300" b="1">
                <a:solidFill>
                  <a:srgbClr val="B07D22"/>
                </a:solidFill>
              </a:rPr>
              <a:t>Kritik nokta: uygulamalar bu katmanın arkasında ne olduğunu bilmez.</a:t>
            </a:r>
          </a:p>
          <a:p>
            <a:pPr algn="ctr"/>
            <a:r>
              <a:rPr sz="1150" b="0">
                <a:solidFill>
                  <a:srgbClr val="262626"/>
                </a:solidFill>
              </a:rPr>
              <a:t>Model, doküman deposu ya da kütüphane değişse uygulama kodu değişmez — tek yerde değişir.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EAA"/>
                </a:solidFill>
              </a:rPr>
              <a:t>GÜVENLİK</a:t>
            </a:r>
          </a:p>
          <a:p>
            <a:r>
              <a:rPr sz="2900" b="1">
                <a:solidFill>
                  <a:srgbClr val="1F3864"/>
                </a:solidFill>
              </a:rPr>
              <a:t>Veri Kurumun Dışına Çıkmaz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2697480" cy="315468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ctr"/>
            <a:r>
              <a:rPr sz="1500" b="1">
                <a:solidFill>
                  <a:srgbClr val="1F3864"/>
                </a:solidFill>
              </a:rPr>
              <a:t>Veri sınırı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262626"/>
                </a:solidFill>
              </a:rPr>
              <a:t>Model ve gateway kurum ağının içinde. Metni sayısallaştırma işlemi de uygulamanın içinde, tamamen çevrimdışı çalışabilir.</a:t>
            </a:r>
          </a:p>
          <a:p>
            <a:pPr algn="l">
              <a:spcBef>
                <a:spcPts val="1000"/>
              </a:spcBef>
            </a:pPr>
            <a:r>
              <a:rPr sz="1050" b="1">
                <a:solidFill>
                  <a:srgbClr val="3E7B3E"/>
                </a:solidFill>
              </a:rPr>
              <a:t>▸ dışarı çağrı yok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1481328"/>
            <a:ext cx="2697480" cy="315468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ctr"/>
            <a:r>
              <a:rPr sz="1500" b="1">
                <a:solidFill>
                  <a:srgbClr val="1F3864"/>
                </a:solidFill>
              </a:rPr>
              <a:t>Yetki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262626"/>
                </a:solidFill>
              </a:rPr>
              <a:t>Model veritabanına girmez; uygulamanın servisini çağırır ve o servis bugünkü yetki kontrolünden geçer.</a:t>
            </a:r>
          </a:p>
          <a:p>
            <a:pPr algn="l">
              <a:spcBef>
                <a:spcPts val="1000"/>
              </a:spcBef>
            </a:pPr>
            <a:r>
              <a:rPr sz="1050" b="1">
                <a:solidFill>
                  <a:srgbClr val="3E7B3E"/>
                </a:solidFill>
              </a:rPr>
              <a:t>▸ bugün göremediğini yarın da göremez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1" y="1481328"/>
            <a:ext cx="2697480" cy="315468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ctr"/>
            <a:r>
              <a:rPr sz="1500" b="1">
                <a:solidFill>
                  <a:srgbClr val="1F3864"/>
                </a:solidFill>
              </a:rPr>
              <a:t>İzlenebilirlik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262626"/>
                </a:solidFill>
              </a:rPr>
              <a:t>Hangi kullanıcı, hangi soru, hangi veriye erişim, ne kadar sürede — hepsi standart metriklerle kayıt altında.</a:t>
            </a:r>
          </a:p>
          <a:p>
            <a:pPr algn="l">
              <a:spcBef>
                <a:spcPts val="1000"/>
              </a:spcBef>
            </a:pPr>
            <a:r>
              <a:rPr sz="1050" b="1">
                <a:solidFill>
                  <a:srgbClr val="3E7B3E"/>
                </a:solidFill>
              </a:rPr>
              <a:t>▸ denetime hazır kayıt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25128" y="1481328"/>
            <a:ext cx="2697480" cy="315468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ctr"/>
            <a:r>
              <a:rPr sz="1500" b="1">
                <a:solidFill>
                  <a:srgbClr val="1F3864"/>
                </a:solidFill>
              </a:rPr>
              <a:t>Bağımsızlık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262626"/>
                </a:solidFill>
              </a:rPr>
              <a:t>Model ya da altyapı değişse uygulama kodu değişmez; katman arkada tek arayüz sunar.</a:t>
            </a:r>
          </a:p>
          <a:p>
            <a:pPr algn="l">
              <a:spcBef>
                <a:spcPts val="1000"/>
              </a:spcBef>
            </a:pPr>
            <a:r>
              <a:rPr sz="1050" b="1">
                <a:solidFill>
                  <a:srgbClr val="3E7B3E"/>
                </a:solidFill>
              </a:rPr>
              <a:t>▸ sağlayıcıya bağımlılık yok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29200"/>
            <a:ext cx="10972800" cy="1005840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500" b="1">
                <a:solidFill>
                  <a:srgbClr val="3E7B3E"/>
                </a:solidFill>
              </a:rPr>
              <a:t>Hiçbir müşteri ya da iş verisi kurum ağının dışına çıkmaz.</a:t>
            </a:r>
          </a:p>
          <a:p>
            <a:pPr algn="ctr"/>
            <a:r>
              <a:rPr sz="1200" b="0">
                <a:solidFill>
                  <a:srgbClr val="262626"/>
                </a:solidFill>
              </a:rPr>
              <a:t>Yapay zekâ erişimi tek katmanda toplanır: denetlenebilir, sınırlanabilir, geri alınabilir.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EAA"/>
                </a:solidFill>
              </a:rPr>
              <a:t>KATMA DEĞER</a:t>
            </a:r>
          </a:p>
          <a:p>
            <a:r>
              <a:rPr sz="2900" b="1">
                <a:solidFill>
                  <a:srgbClr val="1F3864"/>
                </a:solidFill>
              </a:rPr>
              <a:t>Kuruma Ne Katıyor — ve Bunu Nasıl Ölçeceğiz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2697480" cy="260604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ctr"/>
            <a:r>
              <a:rPr sz="1450" b="1">
                <a:solidFill>
                  <a:srgbClr val="1F3864"/>
                </a:solidFill>
              </a:rPr>
              <a:t>Operasyon yükü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262626"/>
                </a:solidFill>
              </a:rPr>
              <a:t>Tekrarlayan rapor ve bilgi talepleri self-servise kayar; operasyon istisnaya odaklanır.</a:t>
            </a:r>
          </a:p>
          <a:p>
            <a:pPr algn="l">
              <a:spcBef>
                <a:spcPts val="1200"/>
              </a:spcBef>
            </a:pPr>
            <a:r>
              <a:rPr sz="900" b="1">
                <a:solidFill>
                  <a:srgbClr val="9AA0AA"/>
                </a:solidFill>
              </a:rPr>
              <a:t>ÖLÇÜT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3E7B3E"/>
                </a:solidFill>
              </a:rPr>
              <a:t>operasyona düşen talep adedi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1481328"/>
            <a:ext cx="2697480" cy="260604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ctr"/>
            <a:r>
              <a:rPr sz="1450" b="1">
                <a:solidFill>
                  <a:srgbClr val="1F3864"/>
                </a:solidFill>
              </a:rPr>
              <a:t>Bilgiye erişim hızı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262626"/>
                </a:solidFill>
              </a:rPr>
              <a:t>Mevzuat ve prosedür sorusu, doküman aramaktan cevaba dönüşür; kaynak da gösterilir.</a:t>
            </a:r>
          </a:p>
          <a:p>
            <a:pPr algn="l">
              <a:spcBef>
                <a:spcPts val="1200"/>
              </a:spcBef>
            </a:pPr>
            <a:r>
              <a:rPr sz="900" b="1">
                <a:solidFill>
                  <a:srgbClr val="9AA0AA"/>
                </a:solidFill>
              </a:rPr>
              <a:t>ÖLÇÜT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3E7B3E"/>
                </a:solidFill>
              </a:rPr>
              <a:t>sorudan cevaba geçen süre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1" y="1481328"/>
            <a:ext cx="2697480" cy="260604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ctr"/>
            <a:r>
              <a:rPr sz="1450" b="1">
                <a:solidFill>
                  <a:srgbClr val="1F3864"/>
                </a:solidFill>
              </a:rPr>
              <a:t>Yetenek maliyeti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262626"/>
                </a:solidFill>
              </a:rPr>
              <a:t>Katman bir kez kurulur; ikinci ve üçüncü uygulamanın maliyeti birincinin çok altındadır.</a:t>
            </a:r>
          </a:p>
          <a:p>
            <a:pPr algn="l">
              <a:spcBef>
                <a:spcPts val="1200"/>
              </a:spcBef>
            </a:pPr>
            <a:r>
              <a:rPr sz="900" b="1">
                <a:solidFill>
                  <a:srgbClr val="9AA0AA"/>
                </a:solidFill>
              </a:rPr>
              <a:t>ÖLÇÜT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3E7B3E"/>
                </a:solidFill>
              </a:rPr>
              <a:t>yetenek başına geliştirme günü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25128" y="1481328"/>
            <a:ext cx="2697480" cy="260604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ctr"/>
            <a:r>
              <a:rPr sz="1450" b="1">
                <a:solidFill>
                  <a:srgbClr val="1F3864"/>
                </a:solidFill>
              </a:rPr>
              <a:t>Denetlenebilirlik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262626"/>
                </a:solidFill>
              </a:rPr>
              <a:t>Yapay zekâ erişimi tek noktada toplanır; kim ne sordu, hangi veriye erişildi kayıtlıdır.</a:t>
            </a:r>
          </a:p>
          <a:p>
            <a:pPr algn="l">
              <a:spcBef>
                <a:spcPts val="1200"/>
              </a:spcBef>
            </a:pPr>
            <a:r>
              <a:rPr sz="900" b="1">
                <a:solidFill>
                  <a:srgbClr val="9AA0AA"/>
                </a:solidFill>
              </a:rPr>
              <a:t>ÖLÇÜT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3E7B3E"/>
                </a:solidFill>
              </a:rPr>
              <a:t>denetim sorusuna cevap süresi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26280"/>
            <a:ext cx="10972800" cy="1005840"/>
          </a:xfrm>
          <a:prstGeom prst="roundRect">
            <a:avLst/>
          </a:prstGeom>
          <a:solidFill>
            <a:srgbClr val="FBF3E2"/>
          </a:solidFill>
          <a:ln w="15875">
            <a:solidFill>
              <a:srgbClr val="B0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500" b="1">
                <a:solidFill>
                  <a:srgbClr val="B07D22"/>
                </a:solidFill>
              </a:rPr>
              <a:t>Bugün size tasarruf rakamı sunmuyorum — ölçüm noktalarını baştan koyuyorum.</a:t>
            </a:r>
          </a:p>
          <a:p>
            <a:pPr algn="ctr"/>
            <a:r>
              <a:rPr sz="1200" b="0">
                <a:solidFill>
                  <a:srgbClr val="262626"/>
                </a:solidFill>
              </a:rPr>
              <a:t>Katkı, tahmin edilerek değil, ilk gerçek kullanımdan sonra kanıtlanarak konuşulacak.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EAA"/>
                </a:solidFill>
              </a:rPr>
              <a:t>ALTYAPI</a:t>
            </a:r>
          </a:p>
          <a:p>
            <a:r>
              <a:rPr sz="2900" b="1">
                <a:solidFill>
                  <a:srgbClr val="1F3864"/>
                </a:solidFill>
              </a:rPr>
              <a:t>Aslında Neyin Önünü Açıyoruz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A5A5A"/>
                </a:solidFill>
              </a:rPr>
              <a:t>Bugün konuştuğumuz dört senaryo başlangıç. Asıl mesele, onları mümkün kılan katman — bir kez kurulduğunda sırası gelenler: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2697480" cy="196596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ctr"/>
            <a:r>
              <a:rPr sz="1350" b="1">
                <a:solidFill>
                  <a:srgbClr val="1F3864"/>
                </a:solidFill>
              </a:rPr>
              <a:t>Müşteri temsilcisi asistanı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262626"/>
                </a:solidFill>
              </a:rPr>
              <a:t>Temsilci sistemler arasında gezmek yerine sorar; cevap kurumun kendi verisinden gelir.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4136" y="1874519"/>
            <a:ext cx="2697480" cy="196596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ctr"/>
            <a:r>
              <a:rPr sz="1350" b="1">
                <a:solidFill>
                  <a:srgbClr val="1F3864"/>
                </a:solidFill>
              </a:rPr>
              <a:t>İç operasyon asistanı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262626"/>
                </a:solidFill>
              </a:rPr>
              <a:t>Gün sonu, mutabakat ve istisna yönetiminde tekrarlayan sorgular otomatikleşir.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1" y="1874519"/>
            <a:ext cx="2697480" cy="196596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ctr"/>
            <a:r>
              <a:rPr sz="1350" b="1">
                <a:solidFill>
                  <a:srgbClr val="1F3864"/>
                </a:solidFill>
              </a:rPr>
              <a:t>Uçtan uca süreç otomasyonu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262626"/>
                </a:solidFill>
              </a:rPr>
              <a:t>Birden çok servisi sırayla kullanan otomatik akışlar — tek soruyla çok adımlı iş.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25128" y="1874519"/>
            <a:ext cx="2697480" cy="196596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ctr"/>
            <a:r>
              <a:rPr sz="1350" b="1">
                <a:solidFill>
                  <a:srgbClr val="1F3864"/>
                </a:solidFill>
              </a:rPr>
              <a:t>Kurum içi geliştirici verimliliği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262626"/>
                </a:solidFill>
              </a:rPr>
              <a:t>Kendi kodumuz, kendi dokümanlarımız ve kendi süreçlerimiz üzerinde çalışan asistanlar.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60520"/>
            <a:ext cx="10972800" cy="96012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450" b="1">
                <a:solidFill>
                  <a:srgbClr val="1F3864"/>
                </a:solidFill>
              </a:rPr>
              <a:t>İnternet bankacılığı için servis katmanını kurduğumuzda da tek bir ekran için kurmamıştık.</a:t>
            </a:r>
          </a:p>
          <a:p>
            <a:pPr algn="ctr"/>
            <a:r>
              <a:rPr sz="1200" b="0">
                <a:solidFill>
                  <a:srgbClr val="262626"/>
                </a:solidFill>
              </a:rPr>
              <a:t>Bu da öyle bir katman: bugün dört senaryoyu taşır, yarın adını henüz koymadığımız işleri taşır.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49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07D22"/>
                </a:solidFill>
              </a:rPr>
              <a:t>Kurumda yapay zekâ, bir uygulamanın özelliği olmaktan çıkıp platformun yeteneği haline gelir.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EAA"/>
                </a:solidFill>
              </a:rPr>
              <a:t>KAPANIŞ</a:t>
            </a:r>
          </a:p>
          <a:p>
            <a:r>
              <a:rPr sz="2900" b="1">
                <a:solidFill>
                  <a:srgbClr val="1F3864"/>
                </a:solidFill>
              </a:rPr>
              <a:t>Yol Açıyoruz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566160" cy="2514600"/>
          </a:xfrm>
          <a:prstGeom prst="roundRect">
            <a:avLst/>
          </a:prstGeom>
          <a:solidFill>
            <a:srgbClr val="EAF3EA"/>
          </a:solidFill>
          <a:ln w="19050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3400" b="1">
                <a:solidFill>
                  <a:srgbClr val="3E7B3E"/>
                </a:solidFill>
              </a:rPr>
              <a:t>✓</a:t>
            </a:r>
          </a:p>
          <a:p>
            <a:pPr algn="ctr"/>
            <a:r>
              <a:rPr sz="1700" b="1">
                <a:solidFill>
                  <a:srgbClr val="3E7B3E"/>
                </a:solidFill>
              </a:rPr>
              <a:t>Model hazır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262626"/>
                </a:solidFill>
              </a:rPr>
              <a:t>Kurum içi gateway çalışıyor.
Yatırım yapıldı.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554480"/>
            <a:ext cx="3566160" cy="2514600"/>
          </a:xfrm>
          <a:prstGeom prst="roundRect">
            <a:avLst/>
          </a:prstGeom>
          <a:solidFill>
            <a:srgbClr val="EAF3EA"/>
          </a:solidFill>
          <a:ln w="19050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3400" b="1">
                <a:solidFill>
                  <a:srgbClr val="3E7B3E"/>
                </a:solidFill>
              </a:rPr>
              <a:t>✓</a:t>
            </a:r>
          </a:p>
          <a:p>
            <a:pPr algn="ctr"/>
            <a:r>
              <a:rPr sz="1700" b="1">
                <a:solidFill>
                  <a:srgbClr val="3E7B3E"/>
                </a:solidFill>
              </a:rPr>
              <a:t>Platform hazır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262626"/>
                </a:solidFill>
              </a:rPr>
              <a:t>Java 25 · Spring Boot 4.
Geçen çeyrek tamamlandı.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554480"/>
            <a:ext cx="3566160" cy="2514600"/>
          </a:xfrm>
          <a:prstGeom prst="roundRect">
            <a:avLst/>
          </a:prstGeom>
          <a:solidFill>
            <a:srgbClr val="FBF3E2"/>
          </a:solidFill>
          <a:ln w="19050">
            <a:solidFill>
              <a:srgbClr val="B0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3400" b="1">
                <a:solidFill>
                  <a:srgbClr val="B07D22"/>
                </a:solidFill>
              </a:rPr>
              <a:t>→</a:t>
            </a:r>
          </a:p>
          <a:p>
            <a:pPr algn="ctr"/>
            <a:r>
              <a:rPr sz="1700" b="1">
                <a:solidFill>
                  <a:srgbClr val="B07D22"/>
                </a:solidFill>
              </a:rPr>
              <a:t>Aradaki katman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262626"/>
                </a:solidFill>
              </a:rPr>
              <a:t>Eksik olan tek parça.
Kurulacak olan bu.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34840"/>
            <a:ext cx="10972800" cy="77724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600" b="1">
                <a:solidFill>
                  <a:srgbClr val="1F3864"/>
                </a:solidFill>
              </a:rPr>
              <a:t>Bu katman kurulduğunda yapay zekâ bir proje olmaktan çıkar, kurumun bir yeteneği olur.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440680"/>
            <a:ext cx="10972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/>
            <a:r>
              <a:rPr sz="1400" b="1">
                <a:solidFill>
                  <a:srgbClr val="1F3864"/>
                </a:solidFill>
              </a:rPr>
              <a:t>Bugün bir talebimiz yok. Yönü paylaşmaya ve görüşünüzü almaya geldik.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EAA"/>
                </a:solidFill>
              </a:rPr>
              <a:t>EK</a:t>
            </a:r>
          </a:p>
          <a:p>
            <a:r>
              <a:rPr sz="2900" b="1">
                <a:solidFill>
                  <a:srgbClr val="1F3864"/>
                </a:solidFill>
              </a:rPr>
              <a:t>Sunumda Geçen Terimler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81328"/>
            <a:ext cx="5349240" cy="132588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l"/>
            <a:r>
              <a:rPr sz="1350" b="1">
                <a:solidFill>
                  <a:srgbClr val="1F3864"/>
                </a:solidFill>
              </a:rPr>
              <a:t>MCP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262626"/>
                </a:solidFill>
              </a:rPr>
              <a:t>Model Context Protocol — modelin dış sistemleri kullanabilmesi için ortak protokol. Yapay zekâ dünyasının USB'si.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81328"/>
            <a:ext cx="5349240" cy="132588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l"/>
            <a:r>
              <a:rPr sz="1350" b="1">
                <a:solidFill>
                  <a:srgbClr val="1F3864"/>
                </a:solidFill>
              </a:rPr>
              <a:t>Tool calling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262626"/>
                </a:solidFill>
              </a:rPr>
              <a:t>Modelin cevabı kendi uydurmak yerine gerçek bir servisi çağırmayı seçmesi. İş kuralı bizde kalır.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5349240" cy="132588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l"/>
            <a:r>
              <a:rPr sz="1350" b="1">
                <a:solidFill>
                  <a:srgbClr val="1F3864"/>
                </a:solidFill>
              </a:rPr>
              <a:t>RAG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262626"/>
                </a:solidFill>
              </a:rPr>
              <a:t>Cevabın kurumun kendi dokümanlarından bulunup kaynak göstererek üretilmesi.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063240"/>
            <a:ext cx="5349240" cy="132588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l"/>
            <a:r>
              <a:rPr sz="1350" b="1">
                <a:solidFill>
                  <a:srgbClr val="1F3864"/>
                </a:solidFill>
              </a:rPr>
              <a:t>Embedding / vektör arama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262626"/>
                </a:solidFill>
              </a:rPr>
              <a:t>Metnin sayısal parmak izine çevrilip anlamca benzerinin bulunması — kelime değil, anlam eşleşmesi.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645152"/>
            <a:ext cx="5349240" cy="132588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l"/>
            <a:r>
              <a:rPr sz="1350" b="1">
                <a:solidFill>
                  <a:srgbClr val="1F3864"/>
                </a:solidFill>
              </a:rPr>
              <a:t>Guardrail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262626"/>
                </a:solidFill>
              </a:rPr>
              <a:t>Modelin ne yapıp ne yapamayacağının sınırı — yetki, veri ve içerik denetimi.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645152"/>
            <a:ext cx="5349240" cy="132588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l"/>
            <a:r>
              <a:rPr sz="1350" b="1">
                <a:solidFill>
                  <a:srgbClr val="1F3864"/>
                </a:solidFill>
              </a:rPr>
              <a:t>Air-gapped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262626"/>
                </a:solidFill>
              </a:rPr>
              <a:t>Sistemin dış internete kapalı, tamamen kurum içinde çalışması.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